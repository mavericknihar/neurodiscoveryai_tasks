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Inter ExtraBold"/>
      <p:bold r:id="rId29"/>
      <p:boldItalic r:id="rId30"/>
    </p:embeddedFont>
    <p:embeddedFont>
      <p:font typeface="Inter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Extra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regular.fntdata"/><Relationship Id="rId30" Type="http://schemas.openxmlformats.org/officeDocument/2006/relationships/font" Target="fonts/InterExtraBold-boldItalic.fntdata"/><Relationship Id="rId11" Type="http://schemas.openxmlformats.org/officeDocument/2006/relationships/slide" Target="slides/slide6.xml"/><Relationship Id="rId33" Type="http://schemas.openxmlformats.org/officeDocument/2006/relationships/font" Target="fonts/InterMedium-italic.fntdata"/><Relationship Id="rId10" Type="http://schemas.openxmlformats.org/officeDocument/2006/relationships/slide" Target="slides/slide5.xml"/><Relationship Id="rId32" Type="http://schemas.openxmlformats.org/officeDocument/2006/relationships/font" Target="fonts/Inter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InterMedium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115e5d21c_2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115e5d21c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115e5d21c_2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115e5d21c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115e5d21c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115e5d21c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115e5d21c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115e5d21c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115e5d21c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115e5d21c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115e5d21c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115e5d21c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115e5d21c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115e5d21c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115e5d21c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115e5d21c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115e5d21c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f115e5d21c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115e5d21c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f115e5d21c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115e5d21c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115e5d21c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115e5d21c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f115e5d21c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115e5d21c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f115e5d21c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115e5d21c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f115e5d21c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115e5d21c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f115e5d21c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115e5d21c_13_0)">
  <p:cSld name="Generated (g3f115e5d21c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/>
        </p:nvSpPr>
        <p:spPr>
          <a:xfrm>
            <a:off x="457200" y="666750"/>
            <a:ext cx="82296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30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Learning Transferable Visual Models From Natural Language Supervision</a:t>
            </a:r>
            <a:endParaRPr b="0" sz="3300">
              <a:solidFill>
                <a:srgbClr val="111827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An Analysis of CLIP by Radford et al., 2021 (OpenAI)</a:t>
            </a:r>
            <a:endParaRPr b="0" sz="18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457200" y="2747725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Presenter: Nihar Panchal</a:t>
            </a:r>
            <a:endParaRPr b="0" sz="1350">
              <a:solidFill>
                <a:srgbClr val="11182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63" name="Google Shape;63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" name="Google Shape;64;p15"/>
            <p:cNvGrpSpPr/>
            <p:nvPr/>
          </p:nvGrpSpPr>
          <p:grpSpPr>
            <a:xfrm>
              <a:off x="457200" y="457200"/>
              <a:ext cx="228600" cy="228600"/>
              <a:chOff x="0" y="0"/>
              <a:chExt cx="228600" cy="228600"/>
            </a:xfrm>
          </p:grpSpPr>
          <p:sp>
            <p:nvSpPr>
              <p:cNvPr id="65" name="Google Shape;65;p15"/>
              <p:cNvSpPr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cap="flat" cmpd="sng" w="28575">
                <a:solidFill>
                  <a:srgbClr val="1118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5"/>
              <p:cNvSpPr/>
              <p:nvPr/>
            </p:nvSpPr>
            <p:spPr>
              <a:xfrm>
                <a:off x="76200" y="76200"/>
                <a:ext cx="76200" cy="76200"/>
              </a:xfrm>
              <a:prstGeom prst="ellipse">
                <a:avLst/>
              </a:prstGeom>
              <a:solidFill>
                <a:srgbClr val="0047A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7" name="Google Shape;67;p15"/>
            <p:cNvSpPr txBox="1"/>
            <p:nvPr/>
          </p:nvSpPr>
          <p:spPr>
            <a:xfrm>
              <a:off x="838200" y="438150"/>
              <a:ext cx="7848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6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Traditional Vision Models Face Severe Limitations Due to Manual Labeling</a:t>
              </a:r>
              <a:endParaRPr b="1" sz="186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68" name="Google Shape;68;p15"/>
            <p:cNvCxnSpPr/>
            <p:nvPr/>
          </p:nvCxnSpPr>
          <p:spPr>
            <a:xfrm>
              <a:off x="457200" y="104775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69" name="Google Shape;69;p15"/>
            <p:cNvGrpSpPr/>
            <p:nvPr/>
          </p:nvGrpSpPr>
          <p:grpSpPr>
            <a:xfrm>
              <a:off x="457200" y="4762500"/>
              <a:ext cx="8229600" cy="266700"/>
              <a:chOff x="457200" y="4762500"/>
              <a:chExt cx="8229600" cy="266700"/>
            </a:xfrm>
          </p:grpSpPr>
          <p:cxnSp>
            <p:nvCxnSpPr>
              <p:cNvPr id="70" name="Google Shape;70;p15"/>
              <p:cNvCxnSpPr/>
              <p:nvPr/>
            </p:nvCxnSpPr>
            <p:spPr>
              <a:xfrm>
                <a:off x="457200" y="4762500"/>
                <a:ext cx="8229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1" name="Google Shape;71;p15"/>
              <p:cNvSpPr txBox="1"/>
              <p:nvPr/>
            </p:nvSpPr>
            <p:spPr>
              <a:xfrm>
                <a:off x="457200" y="483870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B5563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CLIP (Contrastive Language-Image Pre-training) | Nihar Panchal</a:t>
                </a:r>
                <a:endParaRPr b="0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72" name="Google Shape;72;p15"/>
              <p:cNvSpPr txBox="1"/>
              <p:nvPr/>
            </p:nvSpPr>
            <p:spPr>
              <a:xfrm>
                <a:off x="4876800" y="483870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B5563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June 15, 2026</a:t>
                </a:r>
                <a:endParaRPr b="0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grpSp>
        <p:nvGrpSpPr>
          <p:cNvPr id="73" name="Google Shape;73;p15"/>
          <p:cNvGrpSpPr/>
          <p:nvPr/>
        </p:nvGrpSpPr>
        <p:grpSpPr>
          <a:xfrm>
            <a:off x="457200" y="1428750"/>
            <a:ext cx="8229600" cy="3048000"/>
            <a:chOff x="457200" y="1333500"/>
            <a:chExt cx="8229600" cy="3048000"/>
          </a:xfrm>
        </p:grpSpPr>
        <p:sp>
          <p:nvSpPr>
            <p:cNvPr id="74" name="Google Shape;74;p15"/>
            <p:cNvSpPr/>
            <p:nvPr/>
          </p:nvSpPr>
          <p:spPr>
            <a:xfrm>
              <a:off x="457200" y="1333500"/>
              <a:ext cx="4000500" cy="3048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685800" y="1562100"/>
              <a:ext cx="3543300" cy="25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Traditional Limitations</a:t>
              </a:r>
              <a:endParaRPr b="1" sz="150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Manual Labeling Reliance</a:t>
              </a:r>
              <a:endParaRPr b="0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3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Fixed label spaces restrict adaptability.</a:t>
              </a:r>
              <a:endParaRPr b="0" sz="13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3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Expensive annotation processes limit scale.</a:t>
              </a:r>
              <a:endParaRPr b="0" sz="13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900"/>
                </a:spcAft>
                <a:buSzPts val="1400"/>
                <a:buChar char="●"/>
              </a:pPr>
              <a:r>
                <a:rPr b="0" lang="en" sz="13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Poor transferability to new domains.</a:t>
              </a:r>
              <a:endParaRPr b="0" sz="13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4686300" y="1333500"/>
              <a:ext cx="4000500" cy="3048000"/>
            </a:xfrm>
            <a:prstGeom prst="rect">
              <a:avLst/>
            </a:prstGeom>
            <a:solidFill>
              <a:srgbClr val="0047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4914900" y="1562100"/>
              <a:ext cx="3543300" cy="25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The New Goal</a:t>
              </a:r>
              <a:endParaRPr b="1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Learn highly transferable visual representations directly from natural language supervision.</a:t>
              </a:r>
              <a:endParaRPr b="0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Bypassing manual bottlenecks by training on raw text-image pairs found on the web.</a:t>
              </a:r>
              <a:endParaRPr b="0" sz="13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" name="Google Shape;83;p16"/>
          <p:cNvGrpSpPr/>
          <p:nvPr/>
        </p:nvGrpSpPr>
        <p:grpSpPr>
          <a:xfrm>
            <a:off x="457200" y="457200"/>
            <a:ext cx="228600" cy="228600"/>
            <a:chOff x="0" y="0"/>
            <a:chExt cx="228600" cy="228600"/>
          </a:xfrm>
        </p:grpSpPr>
        <p:sp>
          <p:nvSpPr>
            <p:cNvPr id="84" name="Google Shape;84;p16"/>
            <p:cNvSpPr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6"/>
            <p:cNvSpPr/>
            <p:nvPr/>
          </p:nvSpPr>
          <p:spPr>
            <a:xfrm>
              <a:off x="76200" y="76200"/>
              <a:ext cx="76200" cy="76200"/>
            </a:xfrm>
            <a:prstGeom prst="ellipse">
              <a:avLst/>
            </a:prstGeom>
            <a:solidFill>
              <a:srgbClr val="0047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16"/>
          <p:cNvSpPr txBox="1"/>
          <p:nvPr/>
        </p:nvSpPr>
        <p:spPr>
          <a:xfrm>
            <a:off x="838200" y="438150"/>
            <a:ext cx="784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8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Contrastive Language-Image Pre-training (CLIP) Predicts Matching Pairs</a:t>
            </a:r>
            <a:endParaRPr b="1" sz="168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7" name="Google Shape;87;p16"/>
          <p:cNvCxnSpPr/>
          <p:nvPr/>
        </p:nvCxnSpPr>
        <p:spPr>
          <a:xfrm>
            <a:off x="457200" y="10477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8" name="Google Shape;88;p16"/>
          <p:cNvGrpSpPr/>
          <p:nvPr/>
        </p:nvGrpSpPr>
        <p:grpSpPr>
          <a:xfrm>
            <a:off x="457200" y="4762500"/>
            <a:ext cx="8229600" cy="266700"/>
            <a:chOff x="457200" y="4762500"/>
            <a:chExt cx="8229600" cy="266700"/>
          </a:xfrm>
        </p:grpSpPr>
        <p:cxnSp>
          <p:nvCxnSpPr>
            <p:cNvPr id="89" name="Google Shape;89;p16"/>
            <p:cNvCxnSpPr/>
            <p:nvPr/>
          </p:nvCxnSpPr>
          <p:spPr>
            <a:xfrm>
              <a:off x="457200" y="4762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0" name="Google Shape;90;p16"/>
            <p:cNvSpPr txBox="1"/>
            <p:nvPr/>
          </p:nvSpPr>
          <p:spPr>
            <a:xfrm>
              <a:off x="457200" y="48387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CLIP (Contrastive Language-Image Pre-training) | Nihar Panchal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91" name="Google Shape;91;p16"/>
            <p:cNvSpPr txBox="1"/>
            <p:nvPr/>
          </p:nvSpPr>
          <p:spPr>
            <a:xfrm>
              <a:off x="4876800" y="48387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June 15, 2026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92" name="Google Shape;92;p16"/>
          <p:cNvSpPr txBox="1"/>
          <p:nvPr/>
        </p:nvSpPr>
        <p:spPr>
          <a:xfrm>
            <a:off x="457200" y="123825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49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CLIP Approach:</a:t>
            </a:r>
            <a:endParaRPr b="0" sz="1249">
              <a:solidFill>
                <a:srgbClr val="11182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0" lang="en" sz="1249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Operates on batches of N image-text pairs; predicting matching pairs among N×N combinations.</a:t>
            </a:r>
            <a:endParaRPr b="0" sz="1249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0833" lvl="0" marL="457200" rtl="0" algn="l">
              <a:spcBef>
                <a:spcPts val="900"/>
              </a:spcBef>
              <a:spcAft>
                <a:spcPts val="900"/>
              </a:spcAft>
              <a:buSzPts val="1295"/>
              <a:buChar char="●"/>
            </a:pPr>
            <a:r>
              <a:rPr b="0" lang="en" sz="1249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Utilizes a shared embedding space to evaluate matches.</a:t>
            </a:r>
            <a:endParaRPr b="0" sz="1249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3" name="Google Shape;93;p16"/>
          <p:cNvGrpSpPr/>
          <p:nvPr/>
        </p:nvGrpSpPr>
        <p:grpSpPr>
          <a:xfrm>
            <a:off x="1371600" y="2095500"/>
            <a:ext cx="6534150" cy="2095500"/>
            <a:chOff x="914400" y="1714500"/>
            <a:chExt cx="6534150" cy="2095500"/>
          </a:xfrm>
        </p:grpSpPr>
        <p:sp>
          <p:nvSpPr>
            <p:cNvPr id="94" name="Google Shape;94;p16"/>
            <p:cNvSpPr/>
            <p:nvPr/>
          </p:nvSpPr>
          <p:spPr>
            <a:xfrm>
              <a:off x="914400" y="1714500"/>
              <a:ext cx="2286000" cy="7620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0047A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 txBox="1"/>
            <p:nvPr/>
          </p:nvSpPr>
          <p:spPr>
            <a:xfrm>
              <a:off x="1009650" y="1809750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Image Encoder</a:t>
              </a:r>
              <a:endParaRPr b="0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(ResNet / ViT)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914400" y="3048000"/>
              <a:ext cx="2286000" cy="7620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0047A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6"/>
            <p:cNvSpPr txBox="1"/>
            <p:nvPr/>
          </p:nvSpPr>
          <p:spPr>
            <a:xfrm>
              <a:off x="1009650" y="3143250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Text Encoder</a:t>
              </a:r>
              <a:endParaRPr b="0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(Transformer)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pic>
          <p:nvPicPr>
            <p:cNvPr id="98" name="Google Shape;98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95638" y="2085975"/>
              <a:ext cx="2067000" cy="685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95638" y="2752725"/>
              <a:ext cx="2067000" cy="6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16"/>
            <p:cNvSpPr/>
            <p:nvPr/>
          </p:nvSpPr>
          <p:spPr>
            <a:xfrm>
              <a:off x="5353050" y="1714500"/>
              <a:ext cx="2095500" cy="20955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5448300" y="2286000"/>
              <a:ext cx="1905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Shared Multimodal</a:t>
              </a:r>
              <a:endParaRPr b="0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Embedding Space</a:t>
              </a:r>
              <a:endParaRPr b="0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N×N Contrastive Prediction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>
              <a:alpha val="8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438" y="0"/>
            <a:ext cx="9600" cy="51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2038" y="0"/>
            <a:ext cx="9600" cy="5124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" name="Google Shape;109;p17"/>
          <p:cNvGrpSpPr/>
          <p:nvPr/>
        </p:nvGrpSpPr>
        <p:grpSpPr>
          <a:xfrm>
            <a:off x="457200" y="457200"/>
            <a:ext cx="228600" cy="228600"/>
            <a:chOff x="0" y="0"/>
            <a:chExt cx="228600" cy="228600"/>
          </a:xfrm>
        </p:grpSpPr>
        <p:sp>
          <p:nvSpPr>
            <p:cNvPr id="110" name="Google Shape;110;p17"/>
            <p:cNvSpPr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76200" y="76200"/>
              <a:ext cx="76200" cy="76200"/>
            </a:xfrm>
            <a:prstGeom prst="ellipse">
              <a:avLst/>
            </a:prstGeom>
            <a:solidFill>
              <a:srgbClr val="0047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17"/>
          <p:cNvSpPr txBox="1"/>
          <p:nvPr/>
        </p:nvSpPr>
        <p:spPr>
          <a:xfrm>
            <a:off x="838200" y="438150"/>
            <a:ext cx="784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8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The WebImageText (WIT) Dataset Provides 400 Million Training Pairs</a:t>
            </a:r>
            <a:endParaRPr b="1" sz="168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3" name="Google Shape;113;p17"/>
          <p:cNvGrpSpPr/>
          <p:nvPr/>
        </p:nvGrpSpPr>
        <p:grpSpPr>
          <a:xfrm>
            <a:off x="457200" y="4762500"/>
            <a:ext cx="8229600" cy="266700"/>
            <a:chOff x="457200" y="4762500"/>
            <a:chExt cx="8229600" cy="266700"/>
          </a:xfrm>
        </p:grpSpPr>
        <p:cxnSp>
          <p:nvCxnSpPr>
            <p:cNvPr id="114" name="Google Shape;114;p17"/>
            <p:cNvCxnSpPr/>
            <p:nvPr/>
          </p:nvCxnSpPr>
          <p:spPr>
            <a:xfrm>
              <a:off x="457200" y="4762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" name="Google Shape;115;p17"/>
            <p:cNvSpPr txBox="1"/>
            <p:nvPr/>
          </p:nvSpPr>
          <p:spPr>
            <a:xfrm>
              <a:off x="457200" y="48387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CLIP (Contrastive Language-Image Pre-training) | Nihar Panchal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16" name="Google Shape;116;p17"/>
            <p:cNvSpPr txBox="1"/>
            <p:nvPr/>
          </p:nvSpPr>
          <p:spPr>
            <a:xfrm>
              <a:off x="4876800" y="48387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June 15, 2026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17" name="Google Shape;117;p17"/>
          <p:cNvGrpSpPr/>
          <p:nvPr/>
        </p:nvGrpSpPr>
        <p:grpSpPr>
          <a:xfrm>
            <a:off x="457200" y="1333500"/>
            <a:ext cx="8229600" cy="1905000"/>
            <a:chOff x="457200" y="1333500"/>
            <a:chExt cx="8229600" cy="1905000"/>
          </a:xfrm>
        </p:grpSpPr>
        <p:sp>
          <p:nvSpPr>
            <p:cNvPr id="118" name="Google Shape;118;p17"/>
            <p:cNvSpPr txBox="1"/>
            <p:nvPr/>
          </p:nvSpPr>
          <p:spPr>
            <a:xfrm>
              <a:off x="457200" y="1333500"/>
              <a:ext cx="4000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5400">
                  <a:solidFill>
                    <a:srgbClr val="0047A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400M</a:t>
              </a:r>
              <a:endParaRPr b="0" sz="5400">
                <a:solidFill>
                  <a:srgbClr val="0047A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Image-Text Pairs</a:t>
              </a:r>
              <a:endParaRPr b="0" sz="15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119" name="Google Shape;119;p17"/>
            <p:cNvCxnSpPr/>
            <p:nvPr/>
          </p:nvCxnSpPr>
          <p:spPr>
            <a:xfrm>
              <a:off x="4572000" y="1524000"/>
              <a:ext cx="0" cy="17145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47A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" name="Google Shape;120;p17"/>
            <p:cNvSpPr txBox="1"/>
            <p:nvPr/>
          </p:nvSpPr>
          <p:spPr>
            <a:xfrm>
              <a:off x="4686300" y="1333500"/>
              <a:ext cx="4000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5400">
                  <a:solidFill>
                    <a:srgbClr val="0047A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500K</a:t>
              </a:r>
              <a:endParaRPr b="0" sz="5400">
                <a:solidFill>
                  <a:srgbClr val="0047A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Search Queries</a:t>
              </a:r>
              <a:endParaRPr b="0" sz="15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21" name="Google Shape;121;p17"/>
          <p:cNvSpPr txBox="1"/>
          <p:nvPr/>
        </p:nvSpPr>
        <p:spPr>
          <a:xfrm>
            <a:off x="457200" y="3238500"/>
            <a:ext cx="82296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Collection Methodology:</a:t>
            </a:r>
            <a:r>
              <a:rPr b="0" lang="en" sz="13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Gathered directly from the internet for maximum diversity.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0" lang="en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Impact:</a:t>
            </a:r>
            <a:r>
              <a:rPr b="0" lang="en" sz="13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Delivers massive-scale supervision without relying on any manual labels.</a:t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28" name="Google Shape;128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9" name="Google Shape;129;p18"/>
            <p:cNvGrpSpPr/>
            <p:nvPr/>
          </p:nvGrpSpPr>
          <p:grpSpPr>
            <a:xfrm>
              <a:off x="457200" y="457200"/>
              <a:ext cx="228600" cy="228600"/>
              <a:chOff x="0" y="0"/>
              <a:chExt cx="228600" cy="228600"/>
            </a:xfrm>
          </p:grpSpPr>
          <p:sp>
            <p:nvSpPr>
              <p:cNvPr id="130" name="Google Shape;130;p18"/>
              <p:cNvSpPr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cap="flat" cmpd="sng" w="28575">
                <a:solidFill>
                  <a:srgbClr val="1118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8"/>
              <p:cNvSpPr/>
              <p:nvPr/>
            </p:nvSpPr>
            <p:spPr>
              <a:xfrm>
                <a:off x="76200" y="76200"/>
                <a:ext cx="76200" cy="76200"/>
              </a:xfrm>
              <a:prstGeom prst="ellipse">
                <a:avLst/>
              </a:prstGeom>
              <a:solidFill>
                <a:srgbClr val="0047A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2" name="Google Shape;132;p18"/>
            <p:cNvSpPr txBox="1"/>
            <p:nvPr/>
          </p:nvSpPr>
          <p:spPr>
            <a:xfrm>
              <a:off x="838200" y="438150"/>
              <a:ext cx="7848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8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The Dual-Encoder Architecture Projects Modalities into a Shared Space</a:t>
              </a:r>
              <a:endParaRPr b="1" sz="168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33" name="Google Shape;133;p18"/>
            <p:cNvCxnSpPr/>
            <p:nvPr/>
          </p:nvCxnSpPr>
          <p:spPr>
            <a:xfrm>
              <a:off x="457200" y="104775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" name="Google Shape;134;p18"/>
            <p:cNvCxnSpPr/>
            <p:nvPr/>
          </p:nvCxnSpPr>
          <p:spPr>
            <a:xfrm>
              <a:off x="4572000" y="1333500"/>
              <a:ext cx="0" cy="3048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35" name="Google Shape;135;p18"/>
            <p:cNvGrpSpPr/>
            <p:nvPr/>
          </p:nvGrpSpPr>
          <p:grpSpPr>
            <a:xfrm>
              <a:off x="457200" y="4762500"/>
              <a:ext cx="8229600" cy="266700"/>
              <a:chOff x="457200" y="4762500"/>
              <a:chExt cx="8229600" cy="266700"/>
            </a:xfrm>
          </p:grpSpPr>
          <p:cxnSp>
            <p:nvCxnSpPr>
              <p:cNvPr id="136" name="Google Shape;136;p18"/>
              <p:cNvCxnSpPr/>
              <p:nvPr/>
            </p:nvCxnSpPr>
            <p:spPr>
              <a:xfrm>
                <a:off x="457200" y="4762500"/>
                <a:ext cx="8229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7" name="Google Shape;137;p18"/>
              <p:cNvSpPr txBox="1"/>
              <p:nvPr/>
            </p:nvSpPr>
            <p:spPr>
              <a:xfrm>
                <a:off x="457200" y="483870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B5563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CLIP (Contrastive Language-Image Pre-training) | Nihar Panchal</a:t>
                </a:r>
                <a:endParaRPr b="0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138" name="Google Shape;138;p18"/>
              <p:cNvSpPr txBox="1"/>
              <p:nvPr/>
            </p:nvSpPr>
            <p:spPr>
              <a:xfrm>
                <a:off x="4876800" y="483870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B5563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June 15, 2026</a:t>
                </a:r>
                <a:endParaRPr b="0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sp>
          <p:nvSpPr>
            <p:cNvPr id="139" name="Google Shape;139;p18"/>
            <p:cNvSpPr txBox="1"/>
            <p:nvPr/>
          </p:nvSpPr>
          <p:spPr>
            <a:xfrm>
              <a:off x="457200" y="1333500"/>
              <a:ext cx="3810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Core Components</a:t>
              </a:r>
              <a:endParaRPr b="0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Image Encoder:</a:t>
              </a:r>
              <a:r>
                <a:rPr b="0" lang="en" sz="13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 Utilizes either a Modified ResNet or a Vision Transformer (ViT).</a:t>
              </a:r>
              <a:endParaRPr b="0" sz="13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Text Encoder:</a:t>
              </a:r>
              <a:r>
                <a:rPr b="0" lang="en" sz="13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 Built on a standard Transformer architecture.</a:t>
              </a:r>
              <a:endParaRPr b="0" sz="13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900"/>
                </a:spcAft>
                <a:buSzPts val="1400"/>
                <a:buChar char="●"/>
              </a:pPr>
              <a:r>
                <a:rPr b="0" lang="en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Integration:</a:t>
              </a:r>
              <a:r>
                <a:rPr b="0" lang="en" sz="13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 Both encoders project their respective inputs into a single, shared multimodal embedding space for comparison.</a:t>
              </a:r>
              <a:endParaRPr b="0" sz="13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0" name="Google Shape;140;p18"/>
            <p:cNvGrpSpPr/>
            <p:nvPr/>
          </p:nvGrpSpPr>
          <p:grpSpPr>
            <a:xfrm>
              <a:off x="4972050" y="1714500"/>
              <a:ext cx="3695700" cy="2095500"/>
              <a:chOff x="4876800" y="1714500"/>
              <a:chExt cx="3695700" cy="2095500"/>
            </a:xfrm>
          </p:grpSpPr>
          <p:sp>
            <p:nvSpPr>
              <p:cNvPr id="141" name="Google Shape;141;p18"/>
              <p:cNvSpPr/>
              <p:nvPr/>
            </p:nvSpPr>
            <p:spPr>
              <a:xfrm>
                <a:off x="4876800" y="1714500"/>
                <a:ext cx="1524000" cy="7620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0047A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8"/>
              <p:cNvSpPr txBox="1"/>
              <p:nvPr/>
            </p:nvSpPr>
            <p:spPr>
              <a:xfrm>
                <a:off x="4972050" y="1809750"/>
                <a:ext cx="1333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Image Encoder</a:t>
                </a:r>
                <a:endParaRPr b="0" sz="12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4B5563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(ResNet / ViT)</a:t>
                </a:r>
                <a:endParaRPr b="0" sz="75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143" name="Google Shape;143;p18"/>
              <p:cNvSpPr/>
              <p:nvPr/>
            </p:nvSpPr>
            <p:spPr>
              <a:xfrm>
                <a:off x="4876800" y="3048000"/>
                <a:ext cx="1524000" cy="7620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0047A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8"/>
              <p:cNvSpPr txBox="1"/>
              <p:nvPr/>
            </p:nvSpPr>
            <p:spPr>
              <a:xfrm>
                <a:off x="4972050" y="3143250"/>
                <a:ext cx="1333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Text Encoder</a:t>
                </a:r>
                <a:endParaRPr b="0" sz="12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4B5563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(Transformer)</a:t>
                </a:r>
                <a:endParaRPr b="0" sz="75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pic>
            <p:nvPicPr>
              <p:cNvPr id="145" name="Google Shape;145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391275" y="2085975"/>
                <a:ext cx="666900" cy="590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6" name="Google Shape;146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6391275" y="2847975"/>
                <a:ext cx="666900" cy="590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7" name="Google Shape;147;p18"/>
              <p:cNvSpPr/>
              <p:nvPr/>
            </p:nvSpPr>
            <p:spPr>
              <a:xfrm>
                <a:off x="6858000" y="1905000"/>
                <a:ext cx="1714500" cy="1714500"/>
              </a:xfrm>
              <a:prstGeom prst="ellipse">
                <a:avLst/>
              </a:prstGeom>
              <a:solidFill>
                <a:srgbClr val="F7F9FC"/>
              </a:solidFill>
              <a:ln cap="flat" cmpd="sng" w="19050">
                <a:solidFill>
                  <a:srgbClr val="1118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8"/>
              <p:cNvSpPr txBox="1"/>
              <p:nvPr/>
            </p:nvSpPr>
            <p:spPr>
              <a:xfrm>
                <a:off x="7000875" y="2286000"/>
                <a:ext cx="14289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Shared Multimodal</a:t>
                </a:r>
                <a:endParaRPr b="0" sz="12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Embedding Space</a:t>
                </a:r>
                <a:endParaRPr b="0" sz="12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" name="Google Shape;154;p19"/>
          <p:cNvGrpSpPr/>
          <p:nvPr/>
        </p:nvGrpSpPr>
        <p:grpSpPr>
          <a:xfrm>
            <a:off x="457200" y="457200"/>
            <a:ext cx="228600" cy="228600"/>
            <a:chOff x="0" y="0"/>
            <a:chExt cx="228600" cy="228600"/>
          </a:xfrm>
        </p:grpSpPr>
        <p:sp>
          <p:nvSpPr>
            <p:cNvPr id="155" name="Google Shape;155;p19"/>
            <p:cNvSpPr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76200" y="76200"/>
              <a:ext cx="76200" cy="76200"/>
            </a:xfrm>
            <a:prstGeom prst="ellipse">
              <a:avLst/>
            </a:prstGeom>
            <a:solidFill>
              <a:srgbClr val="0047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19"/>
          <p:cNvSpPr txBox="1"/>
          <p:nvPr/>
        </p:nvSpPr>
        <p:spPr>
          <a:xfrm>
            <a:off x="838200" y="438150"/>
            <a:ext cx="784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Vision Transformers Drive the Strongest Visual Feature Extraction</a:t>
            </a:r>
            <a:endParaRPr b="1" sz="186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58" name="Google Shape;158;p19"/>
          <p:cNvCxnSpPr/>
          <p:nvPr/>
        </p:nvCxnSpPr>
        <p:spPr>
          <a:xfrm>
            <a:off x="457200" y="10477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19"/>
          <p:cNvCxnSpPr/>
          <p:nvPr/>
        </p:nvCxnSpPr>
        <p:spPr>
          <a:xfrm>
            <a:off x="4572000" y="1333500"/>
            <a:ext cx="0" cy="30480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0" name="Google Shape;160;p19"/>
          <p:cNvGrpSpPr/>
          <p:nvPr/>
        </p:nvGrpSpPr>
        <p:grpSpPr>
          <a:xfrm>
            <a:off x="457200" y="4762500"/>
            <a:ext cx="8229600" cy="266700"/>
            <a:chOff x="457200" y="4762500"/>
            <a:chExt cx="8229600" cy="266700"/>
          </a:xfrm>
        </p:grpSpPr>
        <p:cxnSp>
          <p:nvCxnSpPr>
            <p:cNvPr id="161" name="Google Shape;161;p19"/>
            <p:cNvCxnSpPr/>
            <p:nvPr/>
          </p:nvCxnSpPr>
          <p:spPr>
            <a:xfrm>
              <a:off x="457200" y="4762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2" name="Google Shape;162;p19"/>
            <p:cNvSpPr txBox="1"/>
            <p:nvPr/>
          </p:nvSpPr>
          <p:spPr>
            <a:xfrm>
              <a:off x="457200" y="48387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CLIP (Contrastive Language-Image Pre-training) | Nihar Panchal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63" name="Google Shape;163;p19"/>
            <p:cNvSpPr txBox="1"/>
            <p:nvPr/>
          </p:nvSpPr>
          <p:spPr>
            <a:xfrm>
              <a:off x="4876800" y="48387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June 15, 2026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64" name="Google Shape;164;p19"/>
          <p:cNvGrpSpPr/>
          <p:nvPr/>
        </p:nvGrpSpPr>
        <p:grpSpPr>
          <a:xfrm>
            <a:off x="457200" y="1333500"/>
            <a:ext cx="3886200" cy="3048000"/>
            <a:chOff x="0" y="0"/>
            <a:chExt cx="3886200" cy="3048000"/>
          </a:xfrm>
        </p:grpSpPr>
        <p:sp>
          <p:nvSpPr>
            <p:cNvPr id="165" name="Google Shape;165;p19"/>
            <p:cNvSpPr txBox="1"/>
            <p:nvPr/>
          </p:nvSpPr>
          <p:spPr>
            <a:xfrm>
              <a:off x="0" y="0"/>
              <a:ext cx="3886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45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Architecture &amp; Function</a:t>
              </a:r>
              <a:endParaRPr b="0" sz="945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290830" lvl="0" marL="457200" rtl="0" algn="l">
                <a:spcBef>
                  <a:spcPts val="600"/>
                </a:spcBef>
                <a:spcAft>
                  <a:spcPts val="0"/>
                </a:spcAft>
                <a:buSzPts val="980"/>
                <a:buChar char="●"/>
              </a:pPr>
              <a:r>
                <a:rPr b="0" lang="en" sz="945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Extracts visual features and generates corresponding image embeddings.</a:t>
              </a:r>
              <a:endParaRPr b="0" sz="945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0830" lvl="0" marL="457200" rtl="0" algn="l">
                <a:spcBef>
                  <a:spcPts val="900"/>
                </a:spcBef>
                <a:spcAft>
                  <a:spcPts val="900"/>
                </a:spcAft>
                <a:buSzPts val="980"/>
                <a:buChar char="●"/>
              </a:pPr>
              <a:r>
                <a:rPr b="0" lang="en" sz="945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Employs modified ResNet or Vision Transformer (ViT) structures.</a:t>
              </a:r>
              <a:endParaRPr b="0" sz="945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66" name="Google Shape;166;p19"/>
            <p:cNvGrpSpPr/>
            <p:nvPr/>
          </p:nvGrpSpPr>
          <p:grpSpPr>
            <a:xfrm>
              <a:off x="0" y="1524000"/>
              <a:ext cx="3886200" cy="1524000"/>
              <a:chOff x="0" y="0"/>
              <a:chExt cx="3886200" cy="1524000"/>
            </a:xfrm>
          </p:grpSpPr>
          <p:sp>
            <p:nvSpPr>
              <p:cNvPr id="167" name="Google Shape;167;p19"/>
              <p:cNvSpPr/>
              <p:nvPr/>
            </p:nvSpPr>
            <p:spPr>
              <a:xfrm>
                <a:off x="0" y="0"/>
                <a:ext cx="3886200" cy="1524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1118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9"/>
              <p:cNvSpPr/>
              <p:nvPr/>
            </p:nvSpPr>
            <p:spPr>
              <a:xfrm>
                <a:off x="0" y="0"/>
                <a:ext cx="76200" cy="1524000"/>
              </a:xfrm>
              <a:prstGeom prst="rect">
                <a:avLst/>
              </a:prstGeom>
              <a:solidFill>
                <a:srgbClr val="0047A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9"/>
              <p:cNvSpPr txBox="1"/>
              <p:nvPr/>
            </p:nvSpPr>
            <p:spPr>
              <a:xfrm>
                <a:off x="228600" y="190500"/>
                <a:ext cx="3429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88">
                    <a:solidFill>
                      <a:srgbClr val="0047AB"/>
                    </a:solidFill>
                    <a:latin typeface="Inter"/>
                    <a:ea typeface="Inter"/>
                    <a:cs typeface="Inter"/>
                    <a:sym typeface="Inter"/>
                  </a:rPr>
                  <a:t>Vision Transformers (ViT) Superiority</a:t>
                </a:r>
                <a:endParaRPr b="1" sz="1388">
                  <a:solidFill>
                    <a:srgbClr val="0047A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11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ViT models have consistently achieved the strongest results across numerous performance benchmarks, establishing a new standard for feature extraction.</a:t>
                </a:r>
                <a:endParaRPr b="0" sz="111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70" name="Google Shape;170;p19"/>
          <p:cNvGrpSpPr/>
          <p:nvPr/>
        </p:nvGrpSpPr>
        <p:grpSpPr>
          <a:xfrm>
            <a:off x="4800600" y="1333500"/>
            <a:ext cx="3886200" cy="3409950"/>
            <a:chOff x="0" y="0"/>
            <a:chExt cx="3886200" cy="3409950"/>
          </a:xfrm>
        </p:grpSpPr>
        <p:pic>
          <p:nvPicPr>
            <p:cNvPr id="171" name="Google Shape;17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3886200" cy="29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9"/>
            <p:cNvSpPr/>
            <p:nvPr/>
          </p:nvSpPr>
          <p:spPr>
            <a:xfrm>
              <a:off x="0" y="0"/>
              <a:ext cx="3886200" cy="291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9"/>
            <p:cNvSpPr txBox="1"/>
            <p:nvPr/>
          </p:nvSpPr>
          <p:spPr>
            <a:xfrm>
              <a:off x="0" y="3028950"/>
              <a:ext cx="3886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NVIDIA H100 Architecture: Optimized for Vision Transformer workloads.</a:t>
              </a:r>
              <a:endParaRPr b="0" i="1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0"/>
          <p:cNvGrpSpPr/>
          <p:nvPr/>
        </p:nvGrpSpPr>
        <p:grpSpPr>
          <a:xfrm>
            <a:off x="457200" y="457200"/>
            <a:ext cx="228600" cy="228600"/>
            <a:chOff x="0" y="0"/>
            <a:chExt cx="228600" cy="228600"/>
          </a:xfrm>
        </p:grpSpPr>
        <p:sp>
          <p:nvSpPr>
            <p:cNvPr id="179" name="Google Shape;179;p20"/>
            <p:cNvSpPr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76200" y="76200"/>
              <a:ext cx="76200" cy="76200"/>
            </a:xfrm>
            <a:prstGeom prst="ellipse">
              <a:avLst/>
            </a:prstGeom>
            <a:solidFill>
              <a:srgbClr val="0047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" name="Google Shape;181;p20"/>
          <p:cNvSpPr txBox="1"/>
          <p:nvPr/>
        </p:nvSpPr>
        <p:spPr>
          <a:xfrm>
            <a:off x="838200" y="438150"/>
            <a:ext cx="784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8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The Transformer Backbone Converts Captions into Semantic Embeddings</a:t>
            </a:r>
            <a:endParaRPr b="1" sz="168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82" name="Google Shape;182;p20"/>
          <p:cNvCxnSpPr/>
          <p:nvPr/>
        </p:nvCxnSpPr>
        <p:spPr>
          <a:xfrm>
            <a:off x="457200" y="10477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3" name="Google Shape;183;p20"/>
          <p:cNvGrpSpPr/>
          <p:nvPr/>
        </p:nvGrpSpPr>
        <p:grpSpPr>
          <a:xfrm>
            <a:off x="457200" y="2247900"/>
            <a:ext cx="8229600" cy="952500"/>
            <a:chOff x="457200" y="2095500"/>
            <a:chExt cx="8229600" cy="952500"/>
          </a:xfrm>
        </p:grpSpPr>
        <p:sp>
          <p:nvSpPr>
            <p:cNvPr id="184" name="Google Shape;184;p20"/>
            <p:cNvSpPr/>
            <p:nvPr/>
          </p:nvSpPr>
          <p:spPr>
            <a:xfrm>
              <a:off x="457200" y="2095500"/>
              <a:ext cx="2095500" cy="952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0"/>
            <p:cNvSpPr txBox="1"/>
            <p:nvPr/>
          </p:nvSpPr>
          <p:spPr>
            <a:xfrm>
              <a:off x="552450" y="2190750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Natural Language</a:t>
              </a:r>
              <a:endParaRPr b="0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"	A photo of a dog"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cxnSp>
          <p:nvCxnSpPr>
            <p:cNvPr id="186" name="Google Shape;186;p20"/>
            <p:cNvCxnSpPr/>
            <p:nvPr/>
          </p:nvCxnSpPr>
          <p:spPr>
            <a:xfrm>
              <a:off x="2680088" y="2628900"/>
              <a:ext cx="285750" cy="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7" name="Google Shape;187;p20"/>
            <p:cNvSpPr/>
            <p:nvPr/>
          </p:nvSpPr>
          <p:spPr>
            <a:xfrm>
              <a:off x="3524250" y="2095500"/>
              <a:ext cx="2095500" cy="952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0047A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3619500" y="2190750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      </a:t>
              </a:r>
              <a:r>
                <a:rPr b="0" lang="en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Transformer</a:t>
              </a:r>
              <a:endParaRPr b="0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45720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Text Encoder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grpSp>
          <p:nvGrpSpPr>
            <p:cNvPr id="189" name="Google Shape;189;p20"/>
            <p:cNvGrpSpPr/>
            <p:nvPr/>
          </p:nvGrpSpPr>
          <p:grpSpPr>
            <a:xfrm>
              <a:off x="6089650" y="2552700"/>
              <a:ext cx="400050" cy="171450"/>
              <a:chOff x="-131233" y="63500"/>
              <a:chExt cx="266700" cy="114300"/>
            </a:xfrm>
          </p:grpSpPr>
          <p:cxnSp>
            <p:nvCxnSpPr>
              <p:cNvPr id="190" name="Google Shape;190;p20"/>
              <p:cNvCxnSpPr/>
              <p:nvPr/>
            </p:nvCxnSpPr>
            <p:spPr>
              <a:xfrm>
                <a:off x="-131233" y="114300"/>
                <a:ext cx="190500" cy="0"/>
              </a:xfrm>
              <a:prstGeom prst="straightConnector1">
                <a:avLst/>
              </a:prstGeom>
              <a:solidFill>
                <a:srgbClr val="FFFFFF"/>
              </a:solidFill>
              <a:ln cap="rnd" cmpd="sng" w="19050">
                <a:solidFill>
                  <a:srgbClr val="11182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91" name="Google Shape;191;p20"/>
              <p:cNvSpPr/>
              <p:nvPr/>
            </p:nvSpPr>
            <p:spPr>
              <a:xfrm>
                <a:off x="59267" y="63500"/>
                <a:ext cx="762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1118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2" name="Google Shape;192;p20"/>
            <p:cNvSpPr/>
            <p:nvPr/>
          </p:nvSpPr>
          <p:spPr>
            <a:xfrm>
              <a:off x="6591300" y="2095500"/>
              <a:ext cx="2095500" cy="952500"/>
            </a:xfrm>
            <a:prstGeom prst="rect">
              <a:avLst/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0"/>
            <p:cNvSpPr txBox="1"/>
            <p:nvPr/>
          </p:nvSpPr>
          <p:spPr>
            <a:xfrm>
              <a:off x="6686550" y="2190750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Semantic</a:t>
              </a:r>
              <a:endParaRPr b="0" sz="13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Embedding</a:t>
              </a:r>
              <a:endParaRPr b="0" sz="13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94" name="Google Shape;194;p20"/>
          <p:cNvSpPr txBox="1"/>
          <p:nvPr/>
        </p:nvSpPr>
        <p:spPr>
          <a:xfrm>
            <a:off x="457200" y="13335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ts val="1085"/>
              <a:buChar char="●"/>
            </a:pPr>
            <a:r>
              <a:rPr b="0" lang="en" sz="1046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Architecture:</a:t>
            </a:r>
            <a:r>
              <a:rPr b="0" lang="en" sz="1046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Transformer-based text encoder.</a:t>
            </a:r>
            <a:endParaRPr b="0" sz="1046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7498" lvl="0" marL="457200" rtl="0" algn="l">
              <a:spcBef>
                <a:spcPts val="600"/>
              </a:spcBef>
              <a:spcAft>
                <a:spcPts val="0"/>
              </a:spcAft>
              <a:buSzPts val="1085"/>
              <a:buChar char="●"/>
            </a:pPr>
            <a:r>
              <a:rPr b="0" lang="en" sz="1046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Core Function:</a:t>
            </a:r>
            <a:r>
              <a:rPr b="0" lang="en" sz="1046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Converts natural language captions into dense semantic embeddings.</a:t>
            </a:r>
            <a:endParaRPr b="0" sz="1046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7498" lvl="0" marL="457200" rtl="0" algn="l">
              <a:spcBef>
                <a:spcPts val="600"/>
              </a:spcBef>
              <a:spcAft>
                <a:spcPts val="0"/>
              </a:spcAft>
              <a:buSzPts val="1085"/>
              <a:buChar char="●"/>
            </a:pPr>
            <a:r>
              <a:rPr b="0" lang="en" sz="1046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Alignment:</a:t>
            </a:r>
            <a:r>
              <a:rPr b="0" lang="en" sz="1046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Ensures textual representations are perfectly aligned with generated image representations in the shared space.</a:t>
            </a:r>
            <a:endParaRPr b="0" sz="1046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5" name="Google Shape;195;p20"/>
          <p:cNvGrpSpPr/>
          <p:nvPr/>
        </p:nvGrpSpPr>
        <p:grpSpPr>
          <a:xfrm>
            <a:off x="457200" y="4762500"/>
            <a:ext cx="8229600" cy="266700"/>
            <a:chOff x="457200" y="4762500"/>
            <a:chExt cx="8229600" cy="266700"/>
          </a:xfrm>
        </p:grpSpPr>
        <p:cxnSp>
          <p:nvCxnSpPr>
            <p:cNvPr id="196" name="Google Shape;196;p20"/>
            <p:cNvCxnSpPr/>
            <p:nvPr/>
          </p:nvCxnSpPr>
          <p:spPr>
            <a:xfrm>
              <a:off x="457200" y="4762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7" name="Google Shape;197;p20"/>
            <p:cNvSpPr txBox="1"/>
            <p:nvPr/>
          </p:nvSpPr>
          <p:spPr>
            <a:xfrm>
              <a:off x="457200" y="48387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CLIP (Contrastive Language-Image Pre-training) | Nihar Panchal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98" name="Google Shape;198;p20"/>
            <p:cNvSpPr txBox="1"/>
            <p:nvPr/>
          </p:nvSpPr>
          <p:spPr>
            <a:xfrm>
              <a:off x="4876800" y="48387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June 15, 2026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99" name="Google Shape;199;p20"/>
          <p:cNvSpPr/>
          <p:nvPr/>
        </p:nvSpPr>
        <p:spPr>
          <a:xfrm>
            <a:off x="2982575" y="2705025"/>
            <a:ext cx="114300" cy="1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1905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1"/>
          <p:cNvGrpSpPr/>
          <p:nvPr/>
        </p:nvGrpSpPr>
        <p:grpSpPr>
          <a:xfrm>
            <a:off x="457200" y="457200"/>
            <a:ext cx="228600" cy="228600"/>
            <a:chOff x="0" y="0"/>
            <a:chExt cx="228600" cy="228600"/>
          </a:xfrm>
        </p:grpSpPr>
        <p:sp>
          <p:nvSpPr>
            <p:cNvPr id="205" name="Google Shape;205;p21"/>
            <p:cNvSpPr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1"/>
            <p:cNvSpPr/>
            <p:nvPr/>
          </p:nvSpPr>
          <p:spPr>
            <a:xfrm>
              <a:off x="76200" y="76200"/>
              <a:ext cx="76200" cy="76200"/>
            </a:xfrm>
            <a:prstGeom prst="ellipse">
              <a:avLst/>
            </a:prstGeom>
            <a:solidFill>
              <a:srgbClr val="0047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" name="Google Shape;207;p21"/>
          <p:cNvSpPr txBox="1"/>
          <p:nvPr/>
        </p:nvSpPr>
        <p:spPr>
          <a:xfrm>
            <a:off x="838200" y="438150"/>
            <a:ext cx="784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4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The Contrastive Objective Aligns Positive Image-Text Pairs</a:t>
            </a:r>
            <a:endParaRPr b="1" sz="204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08" name="Google Shape;208;p21"/>
          <p:cNvCxnSpPr/>
          <p:nvPr/>
        </p:nvCxnSpPr>
        <p:spPr>
          <a:xfrm>
            <a:off x="457200" y="10477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9" name="Google Shape;209;p21"/>
          <p:cNvGrpSpPr/>
          <p:nvPr/>
        </p:nvGrpSpPr>
        <p:grpSpPr>
          <a:xfrm>
            <a:off x="457200" y="4762500"/>
            <a:ext cx="8229600" cy="266700"/>
            <a:chOff x="457200" y="4762500"/>
            <a:chExt cx="8229600" cy="266700"/>
          </a:xfrm>
        </p:grpSpPr>
        <p:cxnSp>
          <p:nvCxnSpPr>
            <p:cNvPr id="210" name="Google Shape;210;p21"/>
            <p:cNvCxnSpPr/>
            <p:nvPr/>
          </p:nvCxnSpPr>
          <p:spPr>
            <a:xfrm>
              <a:off x="457200" y="4762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1" name="Google Shape;211;p21"/>
            <p:cNvSpPr txBox="1"/>
            <p:nvPr/>
          </p:nvSpPr>
          <p:spPr>
            <a:xfrm>
              <a:off x="457200" y="48387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CLIP (Contrastive Language-Image Pre-training) | Nihar Panchal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4876800" y="48387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June 15, 2026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213" name="Google Shape;213;p21"/>
          <p:cNvSpPr txBox="1"/>
          <p:nvPr/>
        </p:nvSpPr>
        <p:spPr>
          <a:xfrm>
            <a:off x="457200" y="123825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Optimization Mechanism:</a:t>
            </a:r>
            <a:r>
              <a:rPr b="0" lang="en" sz="13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Uses a contrastive learning objective to refine the shared multimodal embedding space.</a:t>
            </a:r>
            <a:endParaRPr b="0" sz="135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14" name="Google Shape;214;p21"/>
          <p:cNvGrpSpPr/>
          <p:nvPr/>
        </p:nvGrpSpPr>
        <p:grpSpPr>
          <a:xfrm>
            <a:off x="1371600" y="2000250"/>
            <a:ext cx="6400800" cy="2286000"/>
            <a:chOff x="1371600" y="1714500"/>
            <a:chExt cx="6400800" cy="2286000"/>
          </a:xfrm>
        </p:grpSpPr>
        <p:sp>
          <p:nvSpPr>
            <p:cNvPr id="215" name="Google Shape;215;p21"/>
            <p:cNvSpPr/>
            <p:nvPr/>
          </p:nvSpPr>
          <p:spPr>
            <a:xfrm>
              <a:off x="1371600" y="1714500"/>
              <a:ext cx="2857500" cy="2286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1"/>
            <p:cNvSpPr txBox="1"/>
            <p:nvPr/>
          </p:nvSpPr>
          <p:spPr>
            <a:xfrm>
              <a:off x="1371600" y="190500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1500">
                  <a:solidFill>
                    <a:srgbClr val="0047AB"/>
                  </a:solidFill>
                  <a:latin typeface="Inter"/>
                  <a:ea typeface="Inter"/>
                  <a:cs typeface="Inter"/>
                  <a:sym typeface="Inter"/>
                </a:rPr>
                <a:t>Positive Pairs</a:t>
              </a:r>
              <a:endParaRPr b="1" sz="1500">
                <a:solidFill>
                  <a:srgbClr val="0047A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7" name="Google Shape;217;p21"/>
            <p:cNvSpPr/>
            <p:nvPr/>
          </p:nvSpPr>
          <p:spPr>
            <a:xfrm>
              <a:off x="1809750" y="2438400"/>
              <a:ext cx="457200" cy="457200"/>
            </a:xfrm>
            <a:prstGeom prst="ellipse">
              <a:avLst/>
            </a:prstGeom>
            <a:solidFill>
              <a:srgbClr val="0047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1"/>
            <p:cNvSpPr/>
            <p:nvPr/>
          </p:nvSpPr>
          <p:spPr>
            <a:xfrm>
              <a:off x="3333750" y="2438400"/>
              <a:ext cx="457200" cy="457200"/>
            </a:xfrm>
            <a:prstGeom prst="ellipse">
              <a:avLst/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9" name="Google Shape;219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43150" y="2609850"/>
              <a:ext cx="34290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14650" y="2609850"/>
              <a:ext cx="3429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21"/>
            <p:cNvSpPr txBox="1"/>
            <p:nvPr/>
          </p:nvSpPr>
          <p:spPr>
            <a:xfrm>
              <a:off x="1371600" y="3238500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Correct matches are pulled together</a:t>
              </a:r>
              <a:endParaRPr b="0" sz="13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2" name="Google Shape;222;p21"/>
            <p:cNvSpPr/>
            <p:nvPr/>
          </p:nvSpPr>
          <p:spPr>
            <a:xfrm>
              <a:off x="4914900" y="1714500"/>
              <a:ext cx="2857500" cy="2286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1"/>
            <p:cNvSpPr txBox="1"/>
            <p:nvPr/>
          </p:nvSpPr>
          <p:spPr>
            <a:xfrm>
              <a:off x="4914900" y="190500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15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Negative Pairs</a:t>
              </a:r>
              <a:endParaRPr b="1" sz="150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4" name="Google Shape;224;p21"/>
            <p:cNvSpPr/>
            <p:nvPr/>
          </p:nvSpPr>
          <p:spPr>
            <a:xfrm>
              <a:off x="5829300" y="2438400"/>
              <a:ext cx="457200" cy="457200"/>
            </a:xfrm>
            <a:prstGeom prst="ellipse">
              <a:avLst/>
            </a:prstGeom>
            <a:solidFill>
              <a:srgbClr val="0047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1"/>
            <p:cNvSpPr/>
            <p:nvPr/>
          </p:nvSpPr>
          <p:spPr>
            <a:xfrm>
              <a:off x="6400800" y="2438400"/>
              <a:ext cx="457200" cy="457200"/>
            </a:xfrm>
            <a:prstGeom prst="ellipse">
              <a:avLst/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6" name="Google Shape;226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34000" y="2609850"/>
              <a:ext cx="41910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934200" y="2609850"/>
              <a:ext cx="4191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21"/>
            <p:cNvSpPr txBox="1"/>
            <p:nvPr/>
          </p:nvSpPr>
          <p:spPr>
            <a:xfrm>
              <a:off x="4914900" y="3238500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Incorrect matches are pushed apart</a:t>
              </a:r>
              <a:endParaRPr b="0" sz="13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22"/>
          <p:cNvGrpSpPr/>
          <p:nvPr/>
        </p:nvGrpSpPr>
        <p:grpSpPr>
          <a:xfrm>
            <a:off x="457200" y="457200"/>
            <a:ext cx="228600" cy="228600"/>
            <a:chOff x="0" y="0"/>
            <a:chExt cx="228600" cy="228600"/>
          </a:xfrm>
        </p:grpSpPr>
        <p:sp>
          <p:nvSpPr>
            <p:cNvPr id="234" name="Google Shape;234;p22"/>
            <p:cNvSpPr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2"/>
            <p:cNvSpPr/>
            <p:nvPr/>
          </p:nvSpPr>
          <p:spPr>
            <a:xfrm>
              <a:off x="76200" y="76200"/>
              <a:ext cx="76200" cy="76200"/>
            </a:xfrm>
            <a:prstGeom prst="ellipse">
              <a:avLst/>
            </a:prstGeom>
            <a:solidFill>
              <a:srgbClr val="0047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" name="Google Shape;236;p22"/>
          <p:cNvSpPr txBox="1"/>
          <p:nvPr/>
        </p:nvSpPr>
        <p:spPr>
          <a:xfrm>
            <a:off x="838200" y="438150"/>
            <a:ext cx="784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2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Zero-Shot Transfer Pipeline Relies on Cosine Similarity</a:t>
            </a:r>
            <a:endParaRPr b="1" sz="222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7" name="Google Shape;237;p22"/>
          <p:cNvCxnSpPr/>
          <p:nvPr/>
        </p:nvCxnSpPr>
        <p:spPr>
          <a:xfrm>
            <a:off x="457200" y="10477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8" name="Google Shape;238;p22"/>
          <p:cNvGrpSpPr/>
          <p:nvPr/>
        </p:nvGrpSpPr>
        <p:grpSpPr>
          <a:xfrm>
            <a:off x="457200" y="4762500"/>
            <a:ext cx="8229600" cy="266700"/>
            <a:chOff x="457200" y="4762500"/>
            <a:chExt cx="8229600" cy="266700"/>
          </a:xfrm>
        </p:grpSpPr>
        <p:cxnSp>
          <p:nvCxnSpPr>
            <p:cNvPr id="239" name="Google Shape;239;p22"/>
            <p:cNvCxnSpPr/>
            <p:nvPr/>
          </p:nvCxnSpPr>
          <p:spPr>
            <a:xfrm>
              <a:off x="457200" y="4762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0" name="Google Shape;240;p22"/>
            <p:cNvSpPr txBox="1"/>
            <p:nvPr/>
          </p:nvSpPr>
          <p:spPr>
            <a:xfrm>
              <a:off x="457200" y="48387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CLIP (Contrastive Language-Image Pre-training) | Nihar Panchal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241" name="Google Shape;241;p22"/>
            <p:cNvSpPr txBox="1"/>
            <p:nvPr/>
          </p:nvSpPr>
          <p:spPr>
            <a:xfrm>
              <a:off x="4876800" y="48387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June 15, 2026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42" name="Google Shape;242;p22"/>
          <p:cNvGrpSpPr/>
          <p:nvPr/>
        </p:nvGrpSpPr>
        <p:grpSpPr>
          <a:xfrm>
            <a:off x="457200" y="2000250"/>
            <a:ext cx="7924800" cy="1905000"/>
            <a:chOff x="457200" y="1714500"/>
            <a:chExt cx="7924800" cy="1905000"/>
          </a:xfrm>
        </p:grpSpPr>
        <p:sp>
          <p:nvSpPr>
            <p:cNvPr id="243" name="Google Shape;243;p22"/>
            <p:cNvSpPr/>
            <p:nvPr/>
          </p:nvSpPr>
          <p:spPr>
            <a:xfrm>
              <a:off x="457200" y="1714500"/>
              <a:ext cx="1828800" cy="1905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2"/>
            <p:cNvSpPr txBox="1"/>
            <p:nvPr/>
          </p:nvSpPr>
          <p:spPr>
            <a:xfrm>
              <a:off x="609600" y="1866900"/>
              <a:ext cx="1524000" cy="16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E5E7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2400">
                <a:solidFill>
                  <a:srgbClr val="E5E7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Class to Prompt</a:t>
              </a:r>
              <a:endParaRPr b="0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Convert target class names into text prompts.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245" name="Google Shape;245;p22"/>
            <p:cNvSpPr/>
            <p:nvPr/>
          </p:nvSpPr>
          <p:spPr>
            <a:xfrm>
              <a:off x="2590800" y="1714500"/>
              <a:ext cx="1828800" cy="1905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2"/>
            <p:cNvSpPr txBox="1"/>
            <p:nvPr/>
          </p:nvSpPr>
          <p:spPr>
            <a:xfrm>
              <a:off x="2743200" y="1866900"/>
              <a:ext cx="1524000" cy="16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E5E7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2400">
                <a:solidFill>
                  <a:srgbClr val="E5E7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Text Embedding</a:t>
              </a:r>
              <a:endParaRPr b="0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Generate text embeddings for these prompts using the Text Encoder.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247" name="Google Shape;247;p22"/>
            <p:cNvSpPr/>
            <p:nvPr/>
          </p:nvSpPr>
          <p:spPr>
            <a:xfrm>
              <a:off x="4724400" y="1714500"/>
              <a:ext cx="1828800" cy="1905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2"/>
            <p:cNvSpPr txBox="1"/>
            <p:nvPr/>
          </p:nvSpPr>
          <p:spPr>
            <a:xfrm>
              <a:off x="4876800" y="1866900"/>
              <a:ext cx="1524000" cy="16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E5E7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b="0" sz="2400">
                <a:solidFill>
                  <a:srgbClr val="E5E7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Comparison</a:t>
              </a:r>
              <a:endParaRPr b="0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Compare the target image embedding against all prompt embeddings.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249" name="Google Shape;249;p22"/>
            <p:cNvSpPr/>
            <p:nvPr/>
          </p:nvSpPr>
          <p:spPr>
            <a:xfrm>
              <a:off x="6553200" y="1714500"/>
              <a:ext cx="1828800" cy="1905000"/>
            </a:xfrm>
            <a:prstGeom prst="rect">
              <a:avLst/>
            </a:prstGeom>
            <a:solidFill>
              <a:srgbClr val="0047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2"/>
            <p:cNvSpPr txBox="1"/>
            <p:nvPr/>
          </p:nvSpPr>
          <p:spPr>
            <a:xfrm>
              <a:off x="6705600" y="1819275"/>
              <a:ext cx="1524000" cy="16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</a:t>
              </a:r>
              <a:endParaRPr b="0" sz="2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Cosine Similarity</a:t>
              </a:r>
              <a:endParaRPr b="1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The highest match is determined using cosine similarity.</a:t>
              </a:r>
              <a:endParaRPr b="0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56" name="Google Shape;256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7" name="Google Shape;257;p23"/>
            <p:cNvGrpSpPr/>
            <p:nvPr/>
          </p:nvGrpSpPr>
          <p:grpSpPr>
            <a:xfrm>
              <a:off x="457200" y="457200"/>
              <a:ext cx="228600" cy="228600"/>
              <a:chOff x="0" y="0"/>
              <a:chExt cx="228600" cy="228600"/>
            </a:xfrm>
          </p:grpSpPr>
          <p:sp>
            <p:nvSpPr>
              <p:cNvPr id="258" name="Google Shape;258;p23"/>
              <p:cNvSpPr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cap="flat" cmpd="sng" w="28575">
                <a:solidFill>
                  <a:srgbClr val="1118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23"/>
              <p:cNvSpPr/>
              <p:nvPr/>
            </p:nvSpPr>
            <p:spPr>
              <a:xfrm>
                <a:off x="76200" y="76200"/>
                <a:ext cx="76200" cy="76200"/>
              </a:xfrm>
              <a:prstGeom prst="ellipse">
                <a:avLst/>
              </a:prstGeom>
              <a:solidFill>
                <a:srgbClr val="0047A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0" name="Google Shape;260;p23"/>
            <p:cNvSpPr txBox="1"/>
            <p:nvPr/>
          </p:nvSpPr>
          <p:spPr>
            <a:xfrm>
              <a:off x="838200" y="438150"/>
              <a:ext cx="7848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6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Contextual Prompts and Ensembling Significantly Boost Accuracy</a:t>
              </a:r>
              <a:endParaRPr b="1" sz="186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61" name="Google Shape;261;p23"/>
            <p:cNvCxnSpPr/>
            <p:nvPr/>
          </p:nvCxnSpPr>
          <p:spPr>
            <a:xfrm>
              <a:off x="457200" y="104775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62" name="Google Shape;262;p23"/>
            <p:cNvGrpSpPr/>
            <p:nvPr/>
          </p:nvGrpSpPr>
          <p:grpSpPr>
            <a:xfrm>
              <a:off x="457200" y="4762500"/>
              <a:ext cx="8229600" cy="266700"/>
              <a:chOff x="457200" y="4762500"/>
              <a:chExt cx="8229600" cy="266700"/>
            </a:xfrm>
          </p:grpSpPr>
          <p:cxnSp>
            <p:nvCxnSpPr>
              <p:cNvPr id="263" name="Google Shape;263;p23"/>
              <p:cNvCxnSpPr/>
              <p:nvPr/>
            </p:nvCxnSpPr>
            <p:spPr>
              <a:xfrm>
                <a:off x="457200" y="4762500"/>
                <a:ext cx="8229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64" name="Google Shape;264;p23"/>
              <p:cNvSpPr txBox="1"/>
              <p:nvPr/>
            </p:nvSpPr>
            <p:spPr>
              <a:xfrm>
                <a:off x="457200" y="483870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B5563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CLIP (Contrastive Language-Image Pre-training) | Nihar Panchal</a:t>
                </a:r>
                <a:endParaRPr b="0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265" name="Google Shape;265;p23"/>
              <p:cNvSpPr txBox="1"/>
              <p:nvPr/>
            </p:nvSpPr>
            <p:spPr>
              <a:xfrm>
                <a:off x="4876800" y="483870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B5563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June 15, 2026</a:t>
                </a:r>
                <a:endParaRPr b="0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grpSp>
        <p:nvGrpSpPr>
          <p:cNvPr id="266" name="Google Shape;266;p23"/>
          <p:cNvGrpSpPr/>
          <p:nvPr/>
        </p:nvGrpSpPr>
        <p:grpSpPr>
          <a:xfrm>
            <a:off x="457200" y="1524000"/>
            <a:ext cx="8229600" cy="2667000"/>
            <a:chOff x="457200" y="1524000"/>
            <a:chExt cx="8229600" cy="2667000"/>
          </a:xfrm>
        </p:grpSpPr>
        <p:grpSp>
          <p:nvGrpSpPr>
            <p:cNvPr id="267" name="Google Shape;267;p23"/>
            <p:cNvGrpSpPr/>
            <p:nvPr/>
          </p:nvGrpSpPr>
          <p:grpSpPr>
            <a:xfrm>
              <a:off x="457200" y="1524000"/>
              <a:ext cx="2514600" cy="2667000"/>
              <a:chOff x="0" y="0"/>
              <a:chExt cx="2514600" cy="2667000"/>
            </a:xfrm>
          </p:grpSpPr>
          <p:sp>
            <p:nvSpPr>
              <p:cNvPr id="268" name="Google Shape;268;p23"/>
              <p:cNvSpPr/>
              <p:nvPr/>
            </p:nvSpPr>
            <p:spPr>
              <a:xfrm>
                <a:off x="0" y="0"/>
                <a:ext cx="2514600" cy="2667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3"/>
              <p:cNvSpPr txBox="1"/>
              <p:nvPr/>
            </p:nvSpPr>
            <p:spPr>
              <a:xfrm>
                <a:off x="152400" y="152400"/>
                <a:ext cx="2209800" cy="23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047AB"/>
                    </a:solidFill>
                    <a:latin typeface="Inter"/>
                    <a:ea typeface="Inter"/>
                    <a:cs typeface="Inter"/>
                    <a:sym typeface="Inter"/>
                  </a:rPr>
                  <a:t>Wording</a:t>
                </a:r>
                <a:endParaRPr b="1" sz="1500">
                  <a:solidFill>
                    <a:srgbClr val="0047A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The exact phrasing of the prompt matters greatly for model accuracy.</a:t>
                </a:r>
                <a:endParaRPr b="0" sz="13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70" name="Google Shape;270;p23"/>
            <p:cNvGrpSpPr/>
            <p:nvPr/>
          </p:nvGrpSpPr>
          <p:grpSpPr>
            <a:xfrm>
              <a:off x="3314700" y="1524000"/>
              <a:ext cx="2514600" cy="2667000"/>
              <a:chOff x="0" y="0"/>
              <a:chExt cx="2514600" cy="2667000"/>
            </a:xfrm>
          </p:grpSpPr>
          <p:sp>
            <p:nvSpPr>
              <p:cNvPr id="271" name="Google Shape;271;p23"/>
              <p:cNvSpPr/>
              <p:nvPr/>
            </p:nvSpPr>
            <p:spPr>
              <a:xfrm>
                <a:off x="0" y="0"/>
                <a:ext cx="2514600" cy="2667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23"/>
              <p:cNvSpPr txBox="1"/>
              <p:nvPr/>
            </p:nvSpPr>
            <p:spPr>
              <a:xfrm>
                <a:off x="152400" y="152400"/>
                <a:ext cx="2209800" cy="23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047AB"/>
                    </a:solidFill>
                    <a:latin typeface="Inter"/>
                    <a:ea typeface="Inter"/>
                    <a:cs typeface="Inter"/>
                    <a:sym typeface="Inter"/>
                  </a:rPr>
                  <a:t>Context</a:t>
                </a:r>
                <a:endParaRPr b="1" sz="1500">
                  <a:solidFill>
                    <a:srgbClr val="0047A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Adding context to the text input improves the model's predictive capabilities.</a:t>
                </a:r>
                <a:endParaRPr b="0" sz="13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73" name="Google Shape;273;p23"/>
            <p:cNvGrpSpPr/>
            <p:nvPr/>
          </p:nvGrpSpPr>
          <p:grpSpPr>
            <a:xfrm>
              <a:off x="6172200" y="1524000"/>
              <a:ext cx="2514600" cy="2667000"/>
              <a:chOff x="0" y="0"/>
              <a:chExt cx="2514600" cy="2667000"/>
            </a:xfrm>
          </p:grpSpPr>
          <p:sp>
            <p:nvSpPr>
              <p:cNvPr id="274" name="Google Shape;274;p23"/>
              <p:cNvSpPr/>
              <p:nvPr/>
            </p:nvSpPr>
            <p:spPr>
              <a:xfrm>
                <a:off x="0" y="0"/>
                <a:ext cx="2514600" cy="2667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23"/>
              <p:cNvSpPr txBox="1"/>
              <p:nvPr/>
            </p:nvSpPr>
            <p:spPr>
              <a:xfrm>
                <a:off x="152400" y="152400"/>
                <a:ext cx="2209800" cy="23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047AB"/>
                    </a:solidFill>
                    <a:latin typeface="Inter"/>
                    <a:ea typeface="Inter"/>
                    <a:cs typeface="Inter"/>
                    <a:sym typeface="Inter"/>
                  </a:rPr>
                  <a:t>Ensembling</a:t>
                </a:r>
                <a:endParaRPr b="1" sz="1500">
                  <a:solidFill>
                    <a:srgbClr val="0047A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Combining multiple prompt variations further boosts overall performance and stability.</a:t>
                </a:r>
                <a:endParaRPr b="0" sz="13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1" name="Google Shape;281;p24"/>
          <p:cNvGrpSpPr/>
          <p:nvPr/>
        </p:nvGrpSpPr>
        <p:grpSpPr>
          <a:xfrm>
            <a:off x="457200" y="457200"/>
            <a:ext cx="228600" cy="228600"/>
            <a:chOff x="0" y="0"/>
            <a:chExt cx="228600" cy="228600"/>
          </a:xfrm>
        </p:grpSpPr>
        <p:sp>
          <p:nvSpPr>
            <p:cNvPr id="282" name="Google Shape;282;p24"/>
            <p:cNvSpPr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4"/>
            <p:cNvSpPr/>
            <p:nvPr/>
          </p:nvSpPr>
          <p:spPr>
            <a:xfrm>
              <a:off x="76200" y="76200"/>
              <a:ext cx="76200" cy="76200"/>
            </a:xfrm>
            <a:prstGeom prst="ellipse">
              <a:avLst/>
            </a:prstGeom>
            <a:solidFill>
              <a:srgbClr val="0047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4" name="Google Shape;284;p24"/>
          <p:cNvSpPr txBox="1"/>
          <p:nvPr/>
        </p:nvSpPr>
        <p:spPr>
          <a:xfrm>
            <a:off x="838200" y="438150"/>
            <a:ext cx="784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CLIP Matches Supervised ResNet-50 Performance on ImageNet</a:t>
            </a:r>
            <a:endParaRPr b="1" sz="186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85" name="Google Shape;285;p24"/>
          <p:cNvCxnSpPr/>
          <p:nvPr/>
        </p:nvCxnSpPr>
        <p:spPr>
          <a:xfrm>
            <a:off x="457200" y="10477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6" name="Google Shape;286;p24"/>
          <p:cNvGrpSpPr/>
          <p:nvPr/>
        </p:nvGrpSpPr>
        <p:grpSpPr>
          <a:xfrm>
            <a:off x="457200" y="4762500"/>
            <a:ext cx="8229600" cy="266700"/>
            <a:chOff x="457200" y="4762500"/>
            <a:chExt cx="8229600" cy="266700"/>
          </a:xfrm>
        </p:grpSpPr>
        <p:cxnSp>
          <p:nvCxnSpPr>
            <p:cNvPr id="287" name="Google Shape;287;p24"/>
            <p:cNvCxnSpPr/>
            <p:nvPr/>
          </p:nvCxnSpPr>
          <p:spPr>
            <a:xfrm>
              <a:off x="457200" y="4762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8" name="Google Shape;288;p24"/>
            <p:cNvSpPr txBox="1"/>
            <p:nvPr/>
          </p:nvSpPr>
          <p:spPr>
            <a:xfrm>
              <a:off x="457200" y="48387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CLIP (Contrastive Language-Image Pre-training) | Nihar Panchal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289" name="Google Shape;289;p24"/>
            <p:cNvSpPr txBox="1"/>
            <p:nvPr/>
          </p:nvSpPr>
          <p:spPr>
            <a:xfrm>
              <a:off x="4876800" y="48387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June 15, 2026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290" name="Google Shape;290;p24"/>
          <p:cNvSpPr txBox="1"/>
          <p:nvPr/>
        </p:nvSpPr>
        <p:spPr>
          <a:xfrm>
            <a:off x="457200" y="1333500"/>
            <a:ext cx="822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Zero-Shot Success:</a:t>
            </a:r>
            <a:r>
              <a:rPr b="0" lang="en" sz="13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Matches the performance of a fully supervised ResNet-50 on ImageNet.</a:t>
            </a:r>
            <a:endParaRPr b="0" sz="135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SzPts val="1400"/>
              <a:buChar char="●"/>
            </a:pPr>
            <a:r>
              <a:rPr b="0" lang="en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Training Distinction:</a:t>
            </a:r>
            <a:r>
              <a:rPr b="0" lang="en" sz="13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Achieves this without ever training on ImageNet labels.</a:t>
            </a:r>
            <a:endParaRPr b="0" sz="135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900"/>
              </a:spcAft>
              <a:buSzPts val="1400"/>
              <a:buChar char="●"/>
            </a:pPr>
            <a:r>
              <a:rPr b="0" lang="en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Generalization:</a:t>
            </a:r>
            <a:r>
              <a:rPr b="0" lang="en" sz="13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Demonstrates exceptional transferability across many diverse datasets.</a:t>
            </a:r>
            <a:endParaRPr b="0" sz="135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91" name="Google Shape;291;p24"/>
          <p:cNvGrpSpPr/>
          <p:nvPr/>
        </p:nvGrpSpPr>
        <p:grpSpPr>
          <a:xfrm>
            <a:off x="1885950" y="2286000"/>
            <a:ext cx="5334000" cy="2476650"/>
            <a:chOff x="1428750" y="0"/>
            <a:chExt cx="5334000" cy="2476650"/>
          </a:xfrm>
        </p:grpSpPr>
        <p:cxnSp>
          <p:nvCxnSpPr>
            <p:cNvPr id="292" name="Google Shape;292;p24"/>
            <p:cNvCxnSpPr/>
            <p:nvPr/>
          </p:nvCxnSpPr>
          <p:spPr>
            <a:xfrm>
              <a:off x="1428750" y="1905000"/>
              <a:ext cx="5334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3" name="Google Shape;293;p24"/>
            <p:cNvCxnSpPr/>
            <p:nvPr/>
          </p:nvCxnSpPr>
          <p:spPr>
            <a:xfrm>
              <a:off x="1428750" y="0"/>
              <a:ext cx="0" cy="1905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94" name="Google Shape;294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28750" y="471488"/>
              <a:ext cx="52959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28750" y="947738"/>
              <a:ext cx="52959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28750" y="1423988"/>
              <a:ext cx="5295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" name="Google Shape;297;p24"/>
            <p:cNvSpPr/>
            <p:nvPr/>
          </p:nvSpPr>
          <p:spPr>
            <a:xfrm>
              <a:off x="2381250" y="190500"/>
              <a:ext cx="952500" cy="1714500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4"/>
            <p:cNvSpPr txBox="1"/>
            <p:nvPr/>
          </p:nvSpPr>
          <p:spPr>
            <a:xfrm>
              <a:off x="2095500" y="2000250"/>
              <a:ext cx="152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Supervised ResNet-50</a:t>
              </a:r>
              <a:endParaRPr b="0" sz="10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Trained on ImageNet</a:t>
              </a:r>
              <a:endParaRPr b="0" sz="75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4381500" y="190500"/>
              <a:ext cx="952500" cy="1714500"/>
            </a:xfrm>
            <a:prstGeom prst="rect">
              <a:avLst/>
            </a:prstGeom>
            <a:solidFill>
              <a:srgbClr val="0047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4"/>
            <p:cNvSpPr txBox="1"/>
            <p:nvPr/>
          </p:nvSpPr>
          <p:spPr>
            <a:xfrm>
              <a:off x="4095750" y="2000250"/>
              <a:ext cx="152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Zero-Shot CLIP</a:t>
              </a:r>
              <a:endParaRPr b="0" sz="10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No ImageNet Labels</a:t>
              </a:r>
              <a:endParaRPr b="0" sz="75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2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06" name="Google Shape;306;p2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07" name="Google Shape;307;p25"/>
            <p:cNvCxnSpPr/>
            <p:nvPr/>
          </p:nvCxnSpPr>
          <p:spPr>
            <a:xfrm>
              <a:off x="4572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8" name="Google Shape;308;p25"/>
            <p:cNvCxnSpPr/>
            <p:nvPr/>
          </p:nvCxnSpPr>
          <p:spPr>
            <a:xfrm>
              <a:off x="86868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09" name="Google Shape;309;p25"/>
            <p:cNvGrpSpPr/>
            <p:nvPr/>
          </p:nvGrpSpPr>
          <p:grpSpPr>
            <a:xfrm>
              <a:off x="457200" y="457200"/>
              <a:ext cx="228600" cy="228600"/>
              <a:chOff x="0" y="0"/>
              <a:chExt cx="228600" cy="228600"/>
            </a:xfrm>
          </p:grpSpPr>
          <p:sp>
            <p:nvSpPr>
              <p:cNvPr id="310" name="Google Shape;310;p25"/>
              <p:cNvSpPr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cap="flat" cmpd="sng" w="28575">
                <a:solidFill>
                  <a:srgbClr val="1118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25"/>
              <p:cNvSpPr/>
              <p:nvPr/>
            </p:nvSpPr>
            <p:spPr>
              <a:xfrm>
                <a:off x="76200" y="76200"/>
                <a:ext cx="76200" cy="76200"/>
              </a:xfrm>
              <a:prstGeom prst="ellipse">
                <a:avLst/>
              </a:prstGeom>
              <a:solidFill>
                <a:srgbClr val="0047A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2" name="Google Shape;312;p25"/>
            <p:cNvSpPr txBox="1"/>
            <p:nvPr/>
          </p:nvSpPr>
          <p:spPr>
            <a:xfrm>
              <a:off x="838200" y="438150"/>
              <a:ext cx="7848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4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CLIP Demonstrates Strong Robustness to Distribution Shifts</a:t>
              </a:r>
              <a:endParaRPr b="1" sz="204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13" name="Google Shape;313;p25"/>
            <p:cNvCxnSpPr/>
            <p:nvPr/>
          </p:nvCxnSpPr>
          <p:spPr>
            <a:xfrm>
              <a:off x="457200" y="104775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4" name="Google Shape;314;p25"/>
            <p:cNvSpPr txBox="1"/>
            <p:nvPr/>
          </p:nvSpPr>
          <p:spPr>
            <a:xfrm>
              <a:off x="457200" y="1333500"/>
              <a:ext cx="8229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48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Strength:</a:t>
              </a:r>
              <a:r>
                <a:rPr b="0" lang="en" sz="1148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 Exhibits strong robustness to natural distribution shifts compared to standard models.</a:t>
              </a:r>
              <a:endParaRPr b="0" sz="1148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48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Advantage:</a:t>
              </a:r>
              <a:r>
                <a:rPr b="0" lang="en" sz="1148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 The generalized pre-training prevents the brittle behavior often seen in narrowly supervised networks.</a:t>
              </a:r>
              <a:endParaRPr b="0" sz="1148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15" name="Google Shape;315;p25"/>
            <p:cNvGrpSpPr/>
            <p:nvPr/>
          </p:nvGrpSpPr>
          <p:grpSpPr>
            <a:xfrm>
              <a:off x="457200" y="2667000"/>
              <a:ext cx="8229600" cy="1714500"/>
              <a:chOff x="457200" y="2000250"/>
              <a:chExt cx="8229600" cy="1714500"/>
            </a:xfrm>
          </p:grpSpPr>
          <p:sp>
            <p:nvSpPr>
              <p:cNvPr id="316" name="Google Shape;316;p25"/>
              <p:cNvSpPr/>
              <p:nvPr/>
            </p:nvSpPr>
            <p:spPr>
              <a:xfrm>
                <a:off x="457200" y="2000250"/>
                <a:ext cx="4000500" cy="17145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25"/>
              <p:cNvSpPr txBox="1"/>
              <p:nvPr/>
            </p:nvSpPr>
            <p:spPr>
              <a:xfrm>
                <a:off x="685800" y="2190750"/>
                <a:ext cx="35433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Standard Models</a:t>
                </a:r>
                <a:endParaRPr b="1" sz="15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Narrow supervision leads to brittle behavior and catastrophic performance drops when encountering unexpected data variations.</a:t>
                </a:r>
                <a:endParaRPr b="0" sz="13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8" name="Google Shape;318;p25"/>
              <p:cNvSpPr/>
              <p:nvPr/>
            </p:nvSpPr>
            <p:spPr>
              <a:xfrm>
                <a:off x="4686300" y="2000250"/>
                <a:ext cx="4000500" cy="1714500"/>
              </a:xfrm>
              <a:prstGeom prst="rect">
                <a:avLst/>
              </a:prstGeom>
              <a:solidFill>
                <a:srgbClr val="0047A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25"/>
              <p:cNvSpPr txBox="1"/>
              <p:nvPr/>
            </p:nvSpPr>
            <p:spPr>
              <a:xfrm>
                <a:off x="4914900" y="2190750"/>
                <a:ext cx="35433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CLIP Models</a:t>
                </a:r>
                <a:endParaRPr b="1" sz="15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Broad, natural language pre-training builds inherent semantic understanding, ensuring high accuracy across diverse out-of-distribution datasets.</a:t>
                </a:r>
                <a:endParaRPr b="0" sz="13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20" name="Google Shape;320;p25"/>
            <p:cNvGrpSpPr/>
            <p:nvPr/>
          </p:nvGrpSpPr>
          <p:grpSpPr>
            <a:xfrm>
              <a:off x="457200" y="4762500"/>
              <a:ext cx="8229600" cy="266700"/>
              <a:chOff x="457200" y="4762500"/>
              <a:chExt cx="8229600" cy="266700"/>
            </a:xfrm>
          </p:grpSpPr>
          <p:cxnSp>
            <p:nvCxnSpPr>
              <p:cNvPr id="321" name="Google Shape;321;p25"/>
              <p:cNvCxnSpPr/>
              <p:nvPr/>
            </p:nvCxnSpPr>
            <p:spPr>
              <a:xfrm>
                <a:off x="457200" y="4762500"/>
                <a:ext cx="8229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22" name="Google Shape;322;p25"/>
              <p:cNvSpPr txBox="1"/>
              <p:nvPr/>
            </p:nvSpPr>
            <p:spPr>
              <a:xfrm>
                <a:off x="457200" y="483870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B5563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CLIP (Contrastive Language-Image Pre-training) | Nihar Panchal</a:t>
                </a:r>
                <a:endParaRPr b="0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323" name="Google Shape;323;p25"/>
              <p:cNvSpPr txBox="1"/>
              <p:nvPr/>
            </p:nvSpPr>
            <p:spPr>
              <a:xfrm>
                <a:off x="4876800" y="483870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B5563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June 15, 2026</a:t>
                </a:r>
                <a:endParaRPr b="0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2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29" name="Google Shape;329;p2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0" name="Google Shape;330;p26"/>
            <p:cNvGrpSpPr/>
            <p:nvPr/>
          </p:nvGrpSpPr>
          <p:grpSpPr>
            <a:xfrm>
              <a:off x="457200" y="457200"/>
              <a:ext cx="228600" cy="228600"/>
              <a:chOff x="0" y="0"/>
              <a:chExt cx="228600" cy="228600"/>
            </a:xfrm>
          </p:grpSpPr>
          <p:sp>
            <p:nvSpPr>
              <p:cNvPr id="331" name="Google Shape;331;p26"/>
              <p:cNvSpPr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cap="flat" cmpd="sng" w="28575">
                <a:solidFill>
                  <a:srgbClr val="1118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26"/>
              <p:cNvSpPr/>
              <p:nvPr/>
            </p:nvSpPr>
            <p:spPr>
              <a:xfrm>
                <a:off x="76200" y="76200"/>
                <a:ext cx="76200" cy="76200"/>
              </a:xfrm>
              <a:prstGeom prst="ellipse">
                <a:avLst/>
              </a:prstGeom>
              <a:solidFill>
                <a:srgbClr val="0047A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3" name="Google Shape;333;p26"/>
            <p:cNvSpPr txBox="1"/>
            <p:nvPr/>
          </p:nvSpPr>
          <p:spPr>
            <a:xfrm>
              <a:off x="838200" y="438150"/>
              <a:ext cx="7848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6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Limitations Include Fine-Grained Tasks and High Compute Requirements</a:t>
              </a:r>
              <a:endParaRPr b="1" sz="186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34" name="Google Shape;334;p26"/>
            <p:cNvCxnSpPr/>
            <p:nvPr/>
          </p:nvCxnSpPr>
          <p:spPr>
            <a:xfrm>
              <a:off x="457200" y="104775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35" name="Google Shape;335;p26"/>
            <p:cNvGrpSpPr/>
            <p:nvPr/>
          </p:nvGrpSpPr>
          <p:grpSpPr>
            <a:xfrm>
              <a:off x="457200" y="4762500"/>
              <a:ext cx="8229600" cy="266700"/>
              <a:chOff x="457200" y="4762500"/>
              <a:chExt cx="8229600" cy="266700"/>
            </a:xfrm>
          </p:grpSpPr>
          <p:cxnSp>
            <p:nvCxnSpPr>
              <p:cNvPr id="336" name="Google Shape;336;p26"/>
              <p:cNvCxnSpPr/>
              <p:nvPr/>
            </p:nvCxnSpPr>
            <p:spPr>
              <a:xfrm>
                <a:off x="457200" y="4762500"/>
                <a:ext cx="8229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37" name="Google Shape;337;p26"/>
              <p:cNvSpPr txBox="1"/>
              <p:nvPr/>
            </p:nvSpPr>
            <p:spPr>
              <a:xfrm>
                <a:off x="457200" y="483870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B5563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CLIP (Contrastive Language-Image Pre-training) | Nihar Panchal</a:t>
                </a:r>
                <a:endParaRPr b="0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338" name="Google Shape;338;p26"/>
              <p:cNvSpPr txBox="1"/>
              <p:nvPr/>
            </p:nvSpPr>
            <p:spPr>
              <a:xfrm>
                <a:off x="4876800" y="483870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B5563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June 15, 2026</a:t>
                </a:r>
                <a:endParaRPr b="0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grpSp>
        <p:nvGrpSpPr>
          <p:cNvPr id="339" name="Google Shape;339;p26"/>
          <p:cNvGrpSpPr/>
          <p:nvPr/>
        </p:nvGrpSpPr>
        <p:grpSpPr>
          <a:xfrm>
            <a:off x="480060" y="1428750"/>
            <a:ext cx="8206740" cy="2571750"/>
            <a:chOff x="22860" y="0"/>
            <a:chExt cx="8206740" cy="2571750"/>
          </a:xfrm>
        </p:grpSpPr>
        <p:grpSp>
          <p:nvGrpSpPr>
            <p:cNvPr id="340" name="Google Shape;340;p26"/>
            <p:cNvGrpSpPr/>
            <p:nvPr/>
          </p:nvGrpSpPr>
          <p:grpSpPr>
            <a:xfrm>
              <a:off x="22860" y="0"/>
              <a:ext cx="8206740" cy="571500"/>
              <a:chOff x="22860" y="0"/>
              <a:chExt cx="8206740" cy="571500"/>
            </a:xfrm>
          </p:grpSpPr>
          <p:grpSp>
            <p:nvGrpSpPr>
              <p:cNvPr id="341" name="Google Shape;341;p26"/>
              <p:cNvGrpSpPr/>
              <p:nvPr/>
            </p:nvGrpSpPr>
            <p:grpSpPr>
              <a:xfrm>
                <a:off x="22860" y="22860"/>
                <a:ext cx="228600" cy="205920"/>
                <a:chOff x="19050" y="19050"/>
                <a:chExt cx="190500" cy="171600"/>
              </a:xfrm>
            </p:grpSpPr>
            <p:sp>
              <p:nvSpPr>
                <p:cNvPr id="342" name="Google Shape;342;p26"/>
                <p:cNvSpPr/>
                <p:nvPr/>
              </p:nvSpPr>
              <p:spPr>
                <a:xfrm>
                  <a:off x="19050" y="19050"/>
                  <a:ext cx="190500" cy="171600"/>
                </a:xfrm>
                <a:custGeom>
                  <a:rect b="b" l="l" r="r" t="t"/>
                  <a:pathLst>
                    <a:path extrusionOk="0" h="120000" w="120000">
                      <a:moveTo>
                        <a:pt x="60000" y="0"/>
                      </a:moveTo>
                      <a:lnTo>
                        <a:pt x="120000" y="120000"/>
                      </a:lnTo>
                      <a:lnTo>
                        <a:pt x="0" y="120000"/>
                      </a:lnTo>
                      <a:close/>
                    </a:path>
                  </a:pathLst>
                </a:custGeom>
                <a:solidFill>
                  <a:srgbClr val="DC262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43" name="Google Shape;343;p26"/>
                <p:cNvCxnSpPr/>
                <p:nvPr/>
              </p:nvCxnSpPr>
              <p:spPr>
                <a:xfrm>
                  <a:off x="114300" y="76200"/>
                  <a:ext cx="0" cy="57300"/>
                </a:xfrm>
                <a:prstGeom prst="straightConnector1">
                  <a:avLst/>
                </a:prstGeom>
                <a:solidFill>
                  <a:srgbClr val="FFFFFF"/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44" name="Google Shape;344;p26"/>
                <p:cNvSpPr/>
                <p:nvPr/>
              </p:nvSpPr>
              <p:spPr>
                <a:xfrm>
                  <a:off x="100013" y="147638"/>
                  <a:ext cx="28500" cy="285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45" name="Google Shape;345;p26"/>
              <p:cNvSpPr txBox="1"/>
              <p:nvPr/>
            </p:nvSpPr>
            <p:spPr>
              <a:xfrm>
                <a:off x="457200" y="0"/>
                <a:ext cx="7772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Struggles with exact counting tasks.</a:t>
                </a:r>
                <a:endParaRPr b="0" sz="13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46" name="Google Shape;346;p26"/>
            <p:cNvGrpSpPr/>
            <p:nvPr/>
          </p:nvGrpSpPr>
          <p:grpSpPr>
            <a:xfrm>
              <a:off x="22860" y="666750"/>
              <a:ext cx="8206740" cy="571500"/>
              <a:chOff x="22860" y="0"/>
              <a:chExt cx="8206740" cy="571500"/>
            </a:xfrm>
          </p:grpSpPr>
          <p:grpSp>
            <p:nvGrpSpPr>
              <p:cNvPr id="347" name="Google Shape;347;p26"/>
              <p:cNvGrpSpPr/>
              <p:nvPr/>
            </p:nvGrpSpPr>
            <p:grpSpPr>
              <a:xfrm>
                <a:off x="22860" y="22860"/>
                <a:ext cx="228600" cy="205920"/>
                <a:chOff x="19050" y="19050"/>
                <a:chExt cx="190500" cy="171600"/>
              </a:xfrm>
            </p:grpSpPr>
            <p:sp>
              <p:nvSpPr>
                <p:cNvPr id="348" name="Google Shape;348;p26"/>
                <p:cNvSpPr/>
                <p:nvPr/>
              </p:nvSpPr>
              <p:spPr>
                <a:xfrm>
                  <a:off x="19050" y="19050"/>
                  <a:ext cx="190500" cy="171600"/>
                </a:xfrm>
                <a:custGeom>
                  <a:rect b="b" l="l" r="r" t="t"/>
                  <a:pathLst>
                    <a:path extrusionOk="0" h="120000" w="120000">
                      <a:moveTo>
                        <a:pt x="60000" y="0"/>
                      </a:moveTo>
                      <a:lnTo>
                        <a:pt x="120000" y="120000"/>
                      </a:lnTo>
                      <a:lnTo>
                        <a:pt x="0" y="120000"/>
                      </a:lnTo>
                      <a:close/>
                    </a:path>
                  </a:pathLst>
                </a:custGeom>
                <a:solidFill>
                  <a:srgbClr val="DC262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49" name="Google Shape;349;p26"/>
                <p:cNvCxnSpPr/>
                <p:nvPr/>
              </p:nvCxnSpPr>
              <p:spPr>
                <a:xfrm>
                  <a:off x="114300" y="76200"/>
                  <a:ext cx="0" cy="57300"/>
                </a:xfrm>
                <a:prstGeom prst="straightConnector1">
                  <a:avLst/>
                </a:prstGeom>
                <a:solidFill>
                  <a:srgbClr val="FFFFFF"/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50" name="Google Shape;350;p26"/>
                <p:cNvSpPr/>
                <p:nvPr/>
              </p:nvSpPr>
              <p:spPr>
                <a:xfrm>
                  <a:off x="100013" y="147638"/>
                  <a:ext cx="28500" cy="285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51" name="Google Shape;351;p26"/>
              <p:cNvSpPr txBox="1"/>
              <p:nvPr/>
            </p:nvSpPr>
            <p:spPr>
              <a:xfrm>
                <a:off x="457200" y="0"/>
                <a:ext cx="7772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Faces challenges with fine-grained classification.</a:t>
                </a:r>
                <a:endParaRPr b="0" sz="13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52" name="Google Shape;352;p26"/>
            <p:cNvGrpSpPr/>
            <p:nvPr/>
          </p:nvGrpSpPr>
          <p:grpSpPr>
            <a:xfrm>
              <a:off x="22860" y="1333500"/>
              <a:ext cx="8206740" cy="571500"/>
              <a:chOff x="22860" y="0"/>
              <a:chExt cx="8206740" cy="571500"/>
            </a:xfrm>
          </p:grpSpPr>
          <p:grpSp>
            <p:nvGrpSpPr>
              <p:cNvPr id="353" name="Google Shape;353;p26"/>
              <p:cNvGrpSpPr/>
              <p:nvPr/>
            </p:nvGrpSpPr>
            <p:grpSpPr>
              <a:xfrm>
                <a:off x="22860" y="22860"/>
                <a:ext cx="228600" cy="205920"/>
                <a:chOff x="19050" y="19050"/>
                <a:chExt cx="190500" cy="171600"/>
              </a:xfrm>
            </p:grpSpPr>
            <p:sp>
              <p:nvSpPr>
                <p:cNvPr id="354" name="Google Shape;354;p26"/>
                <p:cNvSpPr/>
                <p:nvPr/>
              </p:nvSpPr>
              <p:spPr>
                <a:xfrm>
                  <a:off x="19050" y="19050"/>
                  <a:ext cx="190500" cy="171600"/>
                </a:xfrm>
                <a:custGeom>
                  <a:rect b="b" l="l" r="r" t="t"/>
                  <a:pathLst>
                    <a:path extrusionOk="0" h="120000" w="120000">
                      <a:moveTo>
                        <a:pt x="60000" y="0"/>
                      </a:moveTo>
                      <a:lnTo>
                        <a:pt x="120000" y="120000"/>
                      </a:lnTo>
                      <a:lnTo>
                        <a:pt x="0" y="120000"/>
                      </a:lnTo>
                      <a:close/>
                    </a:path>
                  </a:pathLst>
                </a:custGeom>
                <a:solidFill>
                  <a:srgbClr val="DC262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55" name="Google Shape;355;p26"/>
                <p:cNvCxnSpPr/>
                <p:nvPr/>
              </p:nvCxnSpPr>
              <p:spPr>
                <a:xfrm>
                  <a:off x="114300" y="76200"/>
                  <a:ext cx="0" cy="57300"/>
                </a:xfrm>
                <a:prstGeom prst="straightConnector1">
                  <a:avLst/>
                </a:prstGeom>
                <a:solidFill>
                  <a:srgbClr val="FFFFFF"/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56" name="Google Shape;356;p26"/>
                <p:cNvSpPr/>
                <p:nvPr/>
              </p:nvSpPr>
              <p:spPr>
                <a:xfrm>
                  <a:off x="100013" y="147638"/>
                  <a:ext cx="28500" cy="285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57" name="Google Shape;357;p26"/>
              <p:cNvSpPr txBox="1"/>
              <p:nvPr/>
            </p:nvSpPr>
            <p:spPr>
              <a:xfrm>
                <a:off x="457200" y="0"/>
                <a:ext cx="7772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Inherits biases present in the massive web-scraped dataset.</a:t>
                </a:r>
                <a:endParaRPr b="0" sz="13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58" name="Google Shape;358;p26"/>
            <p:cNvGrpSpPr/>
            <p:nvPr/>
          </p:nvGrpSpPr>
          <p:grpSpPr>
            <a:xfrm>
              <a:off x="22860" y="2000250"/>
              <a:ext cx="8206740" cy="571500"/>
              <a:chOff x="22860" y="0"/>
              <a:chExt cx="8206740" cy="571500"/>
            </a:xfrm>
          </p:grpSpPr>
          <p:grpSp>
            <p:nvGrpSpPr>
              <p:cNvPr id="359" name="Google Shape;359;p26"/>
              <p:cNvGrpSpPr/>
              <p:nvPr/>
            </p:nvGrpSpPr>
            <p:grpSpPr>
              <a:xfrm>
                <a:off x="22860" y="22860"/>
                <a:ext cx="228600" cy="205920"/>
                <a:chOff x="19050" y="19050"/>
                <a:chExt cx="190500" cy="171600"/>
              </a:xfrm>
            </p:grpSpPr>
            <p:sp>
              <p:nvSpPr>
                <p:cNvPr id="360" name="Google Shape;360;p26"/>
                <p:cNvSpPr/>
                <p:nvPr/>
              </p:nvSpPr>
              <p:spPr>
                <a:xfrm>
                  <a:off x="19050" y="19050"/>
                  <a:ext cx="190500" cy="171600"/>
                </a:xfrm>
                <a:custGeom>
                  <a:rect b="b" l="l" r="r" t="t"/>
                  <a:pathLst>
                    <a:path extrusionOk="0" h="120000" w="120000">
                      <a:moveTo>
                        <a:pt x="60000" y="0"/>
                      </a:moveTo>
                      <a:lnTo>
                        <a:pt x="120000" y="120000"/>
                      </a:lnTo>
                      <a:lnTo>
                        <a:pt x="0" y="120000"/>
                      </a:lnTo>
                      <a:close/>
                    </a:path>
                  </a:pathLst>
                </a:custGeom>
                <a:solidFill>
                  <a:srgbClr val="DC262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61" name="Google Shape;361;p26"/>
                <p:cNvCxnSpPr/>
                <p:nvPr/>
              </p:nvCxnSpPr>
              <p:spPr>
                <a:xfrm>
                  <a:off x="114300" y="76200"/>
                  <a:ext cx="0" cy="57300"/>
                </a:xfrm>
                <a:prstGeom prst="straightConnector1">
                  <a:avLst/>
                </a:prstGeom>
                <a:solidFill>
                  <a:srgbClr val="FFFFFF"/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62" name="Google Shape;362;p26"/>
                <p:cNvSpPr/>
                <p:nvPr/>
              </p:nvSpPr>
              <p:spPr>
                <a:xfrm>
                  <a:off x="100013" y="147638"/>
                  <a:ext cx="28500" cy="285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63" name="Google Shape;363;p26"/>
              <p:cNvSpPr txBox="1"/>
              <p:nvPr/>
            </p:nvSpPr>
            <p:spPr>
              <a:xfrm>
                <a:off x="457200" y="0"/>
                <a:ext cx="7772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Demands exceptionally high compute requirements for training.</a:t>
                </a:r>
                <a:endParaRPr b="0" sz="13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9" name="Google Shape;369;p27"/>
          <p:cNvGrpSpPr/>
          <p:nvPr/>
        </p:nvGrpSpPr>
        <p:grpSpPr>
          <a:xfrm>
            <a:off x="457200" y="438150"/>
            <a:ext cx="8229600" cy="4591050"/>
            <a:chOff x="457200" y="438150"/>
            <a:chExt cx="8229600" cy="4591050"/>
          </a:xfrm>
        </p:grpSpPr>
        <p:grpSp>
          <p:nvGrpSpPr>
            <p:cNvPr id="370" name="Google Shape;370;p27"/>
            <p:cNvGrpSpPr/>
            <p:nvPr/>
          </p:nvGrpSpPr>
          <p:grpSpPr>
            <a:xfrm>
              <a:off x="457200" y="457200"/>
              <a:ext cx="228600" cy="228600"/>
              <a:chOff x="0" y="0"/>
              <a:chExt cx="228600" cy="228600"/>
            </a:xfrm>
          </p:grpSpPr>
          <p:sp>
            <p:nvSpPr>
              <p:cNvPr id="371" name="Google Shape;371;p27"/>
              <p:cNvSpPr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cap="flat" cmpd="sng" w="28575">
                <a:solidFill>
                  <a:srgbClr val="1118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27"/>
              <p:cNvSpPr/>
              <p:nvPr/>
            </p:nvSpPr>
            <p:spPr>
              <a:xfrm>
                <a:off x="76200" y="76200"/>
                <a:ext cx="76200" cy="76200"/>
              </a:xfrm>
              <a:prstGeom prst="ellipse">
                <a:avLst/>
              </a:prstGeom>
              <a:solidFill>
                <a:srgbClr val="0047A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3" name="Google Shape;373;p27"/>
            <p:cNvSpPr txBox="1"/>
            <p:nvPr/>
          </p:nvSpPr>
          <p:spPr>
            <a:xfrm>
              <a:off x="838200" y="438150"/>
              <a:ext cx="7848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6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Medical AI Represents a Critical Frontier for Multimodal Models</a:t>
              </a:r>
              <a:endParaRPr b="1" sz="186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74" name="Google Shape;374;p27"/>
            <p:cNvCxnSpPr/>
            <p:nvPr/>
          </p:nvCxnSpPr>
          <p:spPr>
            <a:xfrm>
              <a:off x="457200" y="104775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75" name="Google Shape;375;p27"/>
            <p:cNvGrpSpPr/>
            <p:nvPr/>
          </p:nvGrpSpPr>
          <p:grpSpPr>
            <a:xfrm>
              <a:off x="457200" y="4762500"/>
              <a:ext cx="8229600" cy="266700"/>
              <a:chOff x="457200" y="4762500"/>
              <a:chExt cx="8229600" cy="266700"/>
            </a:xfrm>
          </p:grpSpPr>
          <p:cxnSp>
            <p:nvCxnSpPr>
              <p:cNvPr id="376" name="Google Shape;376;p27"/>
              <p:cNvCxnSpPr/>
              <p:nvPr/>
            </p:nvCxnSpPr>
            <p:spPr>
              <a:xfrm>
                <a:off x="457200" y="4762500"/>
                <a:ext cx="8229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77" name="Google Shape;377;p27"/>
              <p:cNvSpPr txBox="1"/>
              <p:nvPr/>
            </p:nvSpPr>
            <p:spPr>
              <a:xfrm>
                <a:off x="457200" y="483870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B5563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CLIP (Contrastive Language-Image Pre-training) | Nihar Panchal</a:t>
                </a:r>
                <a:endParaRPr b="0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378" name="Google Shape;378;p27"/>
              <p:cNvSpPr txBox="1"/>
              <p:nvPr/>
            </p:nvSpPr>
            <p:spPr>
              <a:xfrm>
                <a:off x="4876800" y="483870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B5563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June 15, 2026</a:t>
                </a:r>
                <a:endParaRPr b="0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grpSp>
        <p:nvGrpSpPr>
          <p:cNvPr id="379" name="Google Shape;379;p27"/>
          <p:cNvGrpSpPr/>
          <p:nvPr/>
        </p:nvGrpSpPr>
        <p:grpSpPr>
          <a:xfrm>
            <a:off x="457200" y="1428750"/>
            <a:ext cx="8229600" cy="2857500"/>
            <a:chOff x="457200" y="1333500"/>
            <a:chExt cx="8229600" cy="2857500"/>
          </a:xfrm>
        </p:grpSpPr>
        <p:sp>
          <p:nvSpPr>
            <p:cNvPr id="380" name="Google Shape;380;p27"/>
            <p:cNvSpPr/>
            <p:nvPr/>
          </p:nvSpPr>
          <p:spPr>
            <a:xfrm>
              <a:off x="457200" y="1333500"/>
              <a:ext cx="4000500" cy="2857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7"/>
            <p:cNvSpPr txBox="1"/>
            <p:nvPr/>
          </p:nvSpPr>
          <p:spPr>
            <a:xfrm>
              <a:off x="685800" y="1562100"/>
              <a:ext cx="3543300" cy="24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Critical Considerations</a:t>
              </a:r>
              <a:endParaRPr b="1" sz="150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Applying CLIP to sensitive domains like medical AI requires careful consideration of its inherited biases and interpretability challenges.</a:t>
              </a:r>
              <a:endParaRPr b="0" sz="13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highlight>
                    <a:srgbClr val="DC2626"/>
                  </a:highlight>
                </a:rPr>
                <a:t>!</a:t>
              </a:r>
              <a:r>
                <a:rPr lang="en"/>
                <a:t> </a:t>
              </a:r>
              <a:r>
                <a:rPr b="0" lang="en" sz="105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Ethical guardrails and domain-specific validation are mandatory before clinical deployment.</a:t>
              </a:r>
              <a:endParaRPr/>
            </a:p>
          </p:txBody>
        </p:sp>
        <p:sp>
          <p:nvSpPr>
            <p:cNvPr id="382" name="Google Shape;382;p27"/>
            <p:cNvSpPr/>
            <p:nvPr/>
          </p:nvSpPr>
          <p:spPr>
            <a:xfrm>
              <a:off x="4686300" y="1333500"/>
              <a:ext cx="4000500" cy="2857500"/>
            </a:xfrm>
            <a:prstGeom prst="rect">
              <a:avLst/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7"/>
            <p:cNvSpPr txBox="1"/>
            <p:nvPr/>
          </p:nvSpPr>
          <p:spPr>
            <a:xfrm>
              <a:off x="4914900" y="1562100"/>
              <a:ext cx="3543300" cy="24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Future Applications</a:t>
              </a:r>
              <a:endParaRPr b="1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3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Development of Medical-domain specific CLIP models.</a:t>
              </a:r>
              <a:endParaRPr b="0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8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3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Creation of Multimodal Healthcare Assistants.</a:t>
              </a:r>
              <a:endParaRPr b="0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84" name="Google Shape;38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7238" y="1047750"/>
            <a:ext cx="9600" cy="31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oogle Shape;389;p28"/>
          <p:cNvGrpSpPr/>
          <p:nvPr/>
        </p:nvGrpSpPr>
        <p:grpSpPr>
          <a:xfrm>
            <a:off x="457200" y="457200"/>
            <a:ext cx="228600" cy="228600"/>
            <a:chOff x="0" y="0"/>
            <a:chExt cx="228600" cy="228600"/>
          </a:xfrm>
        </p:grpSpPr>
        <p:sp>
          <p:nvSpPr>
            <p:cNvPr id="390" name="Google Shape;390;p28"/>
            <p:cNvSpPr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8"/>
            <p:cNvSpPr/>
            <p:nvPr/>
          </p:nvSpPr>
          <p:spPr>
            <a:xfrm>
              <a:off x="76200" y="76200"/>
              <a:ext cx="76200" cy="76200"/>
            </a:xfrm>
            <a:prstGeom prst="ellipse">
              <a:avLst/>
            </a:prstGeom>
            <a:solidFill>
              <a:srgbClr val="0047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2" name="Google Shape;392;p28"/>
          <p:cNvSpPr txBox="1"/>
          <p:nvPr/>
        </p:nvSpPr>
        <p:spPr>
          <a:xfrm>
            <a:off x="838200" y="438150"/>
            <a:ext cx="784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CLIP Transformed Computer Vision Through Language Supervision</a:t>
            </a:r>
            <a:endParaRPr b="1" sz="186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93" name="Google Shape;393;p28"/>
          <p:cNvCxnSpPr/>
          <p:nvPr/>
        </p:nvCxnSpPr>
        <p:spPr>
          <a:xfrm>
            <a:off x="457200" y="10477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4" name="Google Shape;394;p28"/>
          <p:cNvGrpSpPr/>
          <p:nvPr/>
        </p:nvGrpSpPr>
        <p:grpSpPr>
          <a:xfrm>
            <a:off x="457200" y="4762500"/>
            <a:ext cx="8229600" cy="266700"/>
            <a:chOff x="457200" y="4762500"/>
            <a:chExt cx="8229600" cy="266700"/>
          </a:xfrm>
        </p:grpSpPr>
        <p:cxnSp>
          <p:nvCxnSpPr>
            <p:cNvPr id="395" name="Google Shape;395;p28"/>
            <p:cNvCxnSpPr/>
            <p:nvPr/>
          </p:nvCxnSpPr>
          <p:spPr>
            <a:xfrm>
              <a:off x="457200" y="4762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6" name="Google Shape;396;p28"/>
            <p:cNvSpPr txBox="1"/>
            <p:nvPr/>
          </p:nvSpPr>
          <p:spPr>
            <a:xfrm>
              <a:off x="457200" y="48387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CLIP (Contrastive Language-Image Pre-training) | Nihar Panchal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97" name="Google Shape;397;p28"/>
            <p:cNvSpPr txBox="1"/>
            <p:nvPr/>
          </p:nvSpPr>
          <p:spPr>
            <a:xfrm>
              <a:off x="4876800" y="48387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June 15, 2026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398" name="Google Shape;398;p28"/>
          <p:cNvGrpSpPr/>
          <p:nvPr/>
        </p:nvGrpSpPr>
        <p:grpSpPr>
          <a:xfrm>
            <a:off x="457196" y="1809750"/>
            <a:ext cx="8174622" cy="2571900"/>
            <a:chOff x="457200" y="1428750"/>
            <a:chExt cx="9067800" cy="2571900"/>
          </a:xfrm>
        </p:grpSpPr>
        <p:cxnSp>
          <p:nvCxnSpPr>
            <p:cNvPr id="399" name="Google Shape;399;p28"/>
            <p:cNvCxnSpPr/>
            <p:nvPr/>
          </p:nvCxnSpPr>
          <p:spPr>
            <a:xfrm>
              <a:off x="457200" y="26670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00" name="Google Shape;400;p28"/>
            <p:cNvSpPr/>
            <p:nvPr/>
          </p:nvSpPr>
          <p:spPr>
            <a:xfrm>
              <a:off x="1314450" y="2552700"/>
              <a:ext cx="228600" cy="228600"/>
            </a:xfrm>
            <a:prstGeom prst="ellipse">
              <a:avLst/>
            </a:prstGeom>
            <a:solidFill>
              <a:srgbClr val="0047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8"/>
            <p:cNvSpPr txBox="1"/>
            <p:nvPr/>
          </p:nvSpPr>
          <p:spPr>
            <a:xfrm>
              <a:off x="476250" y="1428750"/>
              <a:ext cx="1905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Unified Vision &amp; Language</a:t>
              </a:r>
              <a:endParaRPr b="0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Foundational Impact influencing DALL-E, GPT-4V &amp; Gemini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02" name="Google Shape;402;p28"/>
            <p:cNvSpPr/>
            <p:nvPr/>
          </p:nvSpPr>
          <p:spPr>
            <a:xfrm>
              <a:off x="3695700" y="2552700"/>
              <a:ext cx="228600" cy="228600"/>
            </a:xfrm>
            <a:prstGeom prst="ellipse">
              <a:avLst/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8"/>
            <p:cNvSpPr txBox="1"/>
            <p:nvPr/>
          </p:nvSpPr>
          <p:spPr>
            <a:xfrm>
              <a:off x="2857500" y="2952750"/>
              <a:ext cx="1905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Explainable VLM</a:t>
              </a:r>
              <a:endParaRPr b="0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Developing interpretable vision-language models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04" name="Google Shape;404;p28"/>
            <p:cNvSpPr/>
            <p:nvPr/>
          </p:nvSpPr>
          <p:spPr>
            <a:xfrm>
              <a:off x="6076950" y="2552700"/>
              <a:ext cx="228600" cy="228600"/>
            </a:xfrm>
            <a:prstGeom prst="ellipse">
              <a:avLst/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8"/>
            <p:cNvSpPr txBox="1"/>
            <p:nvPr/>
          </p:nvSpPr>
          <p:spPr>
            <a:xfrm>
              <a:off x="5238750" y="1428750"/>
              <a:ext cx="1905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Knowledge Graphs</a:t>
              </a:r>
              <a:endParaRPr b="0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Integration of CLIP with structured knowledge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06" name="Google Shape;406;p28"/>
            <p:cNvSpPr/>
            <p:nvPr/>
          </p:nvSpPr>
          <p:spPr>
            <a:xfrm>
              <a:off x="8458200" y="2552700"/>
              <a:ext cx="228600" cy="228600"/>
            </a:xfrm>
            <a:prstGeom prst="ellipse">
              <a:avLst/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8"/>
            <p:cNvSpPr txBox="1"/>
            <p:nvPr/>
          </p:nvSpPr>
          <p:spPr>
            <a:xfrm>
              <a:off x="7620000" y="2952750"/>
              <a:ext cx="1905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CLIP-guided RAG</a:t>
              </a:r>
              <a:endParaRPr b="0" sz="13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Retrieval-Augmented Generation advancements</a:t>
              </a:r>
              <a:endParaRPr b="0" sz="9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408" name="Google Shape;408;p28"/>
          <p:cNvSpPr txBox="1"/>
          <p:nvPr/>
        </p:nvSpPr>
        <p:spPr>
          <a:xfrm>
            <a:off x="457200" y="1190625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49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Foundational Impact:</a:t>
            </a:r>
            <a:r>
              <a:rPr b="0" lang="en" sz="1249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Heavily influencing modern AI architectures like DALL-E, Stable Diffusion, GPT-4V, and Gemini.</a:t>
            </a:r>
            <a:endParaRPr b="0" sz="1249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